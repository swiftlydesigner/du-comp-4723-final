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21"/>
  </p:notesMasterIdLst>
  <p:sldIdLst>
    <p:sldId id="256" r:id="rId2"/>
    <p:sldId id="257" r:id="rId3"/>
    <p:sldId id="258" r:id="rId4"/>
    <p:sldId id="259" r:id="rId5"/>
    <p:sldId id="263" r:id="rId6"/>
    <p:sldId id="264" r:id="rId7"/>
    <p:sldId id="265" r:id="rId8"/>
    <p:sldId id="260" r:id="rId9"/>
    <p:sldId id="261" r:id="rId10"/>
    <p:sldId id="262" r:id="rId11"/>
    <p:sldId id="266" r:id="rId12"/>
    <p:sldId id="267" r:id="rId13"/>
    <p:sldId id="268" r:id="rId14"/>
    <p:sldId id="269" r:id="rId15"/>
    <p:sldId id="270" r:id="rId16"/>
    <p:sldId id="271" r:id="rId17"/>
    <p:sldId id="272" r:id="rId18"/>
    <p:sldId id="273" r:id="rId19"/>
    <p:sldId id="274" r:id="rId2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1210"/>
    <p:restoredTop sz="70491"/>
  </p:normalViewPr>
  <p:slideViewPr>
    <p:cSldViewPr snapToGrid="0">
      <p:cViewPr>
        <p:scale>
          <a:sx n="77" d="100"/>
          <a:sy n="77" d="100"/>
        </p:scale>
        <p:origin x="776" y="150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1C42146-6CDE-B740-961D-C7264D08B387}" type="datetimeFigureOut">
              <a:rPr lang="en-US" smtClean="0"/>
              <a:t>6/8/26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35B839A-3CCD-7649-B165-B531E0BAB40A}" type="slidenum">
              <a:rPr lang="en-US" smtClean="0"/>
              <a:t>‹#›</a:t>
            </a:fld>
            <a:endParaRPr lang="en-US"/>
          </a:p>
        </p:txBody>
      </p:sp>
    </p:spTree>
    <p:extLst>
      <p:ext uri="{BB962C8B-B14F-4D97-AF65-F5344CB8AC3E}">
        <p14:creationId xmlns:p14="http://schemas.microsoft.com/office/powerpoint/2010/main" val="265405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Greeting + introduce self</a:t>
            </a:r>
            <a:br>
              <a:rPr lang="en-US" dirty="0"/>
            </a:br>
            <a:r>
              <a:rPr lang="en-US" dirty="0"/>
              <a:t>Took intentionally vulnerable and malicious program and analyzed it issues using </a:t>
            </a:r>
            <a:r>
              <a:rPr lang="en-US" dirty="0" err="1"/>
              <a:t>Ghidra</a:t>
            </a:r>
            <a:r>
              <a:rPr lang="en-US" dirty="0"/>
              <a:t>, </a:t>
            </a:r>
            <a:r>
              <a:rPr lang="en-US" dirty="0" err="1"/>
              <a:t>binwalk</a:t>
            </a:r>
            <a:r>
              <a:rPr lang="en-US" dirty="0"/>
              <a:t>, radare2, and other CLI tools.</a:t>
            </a:r>
          </a:p>
        </p:txBody>
      </p:sp>
      <p:sp>
        <p:nvSpPr>
          <p:cNvPr id="4" name="Slide Number Placeholder 3"/>
          <p:cNvSpPr>
            <a:spLocks noGrp="1"/>
          </p:cNvSpPr>
          <p:nvPr>
            <p:ph type="sldNum" sz="quarter" idx="5"/>
          </p:nvPr>
        </p:nvSpPr>
        <p:spPr/>
        <p:txBody>
          <a:bodyPr/>
          <a:lstStyle/>
          <a:p>
            <a:fld id="{335B839A-3CCD-7649-B165-B531E0BAB40A}" type="slidenum">
              <a:rPr lang="en-US" smtClean="0"/>
              <a:t>1</a:t>
            </a:fld>
            <a:endParaRPr lang="en-US"/>
          </a:p>
        </p:txBody>
      </p:sp>
    </p:spTree>
    <p:extLst>
      <p:ext uri="{BB962C8B-B14F-4D97-AF65-F5344CB8AC3E}">
        <p14:creationId xmlns:p14="http://schemas.microsoft.com/office/powerpoint/2010/main" val="372474250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sec</a:t>
            </a:r>
          </a:p>
          <a:p>
            <a:r>
              <a:rPr lang="en-US" dirty="0"/>
              <a:t>First, we needed to understand what the program is and what it does. Then we need to figure out how it does things.</a:t>
            </a:r>
          </a:p>
          <a:p>
            <a:r>
              <a:rPr lang="en-US" dirty="0"/>
              <a:t>From there, we can analyze places that can be improved or code which could cause harm if executed.</a:t>
            </a:r>
          </a:p>
          <a:p>
            <a:r>
              <a:rPr lang="en-US" dirty="0"/>
              <a:t>We will conclude with code that patches or removes the vulnerable/malicious codes.</a:t>
            </a:r>
          </a:p>
        </p:txBody>
      </p:sp>
      <p:sp>
        <p:nvSpPr>
          <p:cNvPr id="4" name="Slide Number Placeholder 3"/>
          <p:cNvSpPr>
            <a:spLocks noGrp="1"/>
          </p:cNvSpPr>
          <p:nvPr>
            <p:ph type="sldNum" sz="quarter" idx="5"/>
          </p:nvPr>
        </p:nvSpPr>
        <p:spPr/>
        <p:txBody>
          <a:bodyPr/>
          <a:lstStyle/>
          <a:p>
            <a:fld id="{335B839A-3CCD-7649-B165-B531E0BAB40A}" type="slidenum">
              <a:rPr lang="en-US" smtClean="0"/>
              <a:t>2</a:t>
            </a:fld>
            <a:endParaRPr lang="en-US"/>
          </a:p>
        </p:txBody>
      </p:sp>
    </p:spTree>
    <p:extLst>
      <p:ext uri="{BB962C8B-B14F-4D97-AF65-F5344CB8AC3E}">
        <p14:creationId xmlns:p14="http://schemas.microsoft.com/office/powerpoint/2010/main" val="195194897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a:t>
            </a:r>
          </a:p>
          <a:p>
            <a:r>
              <a:rPr lang="en-US" dirty="0"/>
              <a:t>We used a total of 6 tools, but primarily engaged with these 4.</a:t>
            </a:r>
          </a:p>
          <a:p>
            <a:endParaRPr lang="en-US" dirty="0"/>
          </a:p>
          <a:p>
            <a:r>
              <a:rPr lang="en-US" dirty="0" err="1"/>
              <a:t>binwalk</a:t>
            </a:r>
            <a:r>
              <a:rPr lang="en-US" dirty="0"/>
              <a:t> was used to determine program sections, offsets, and calculated the program’s entropy. </a:t>
            </a:r>
          </a:p>
          <a:p>
            <a:endParaRPr lang="en-US" dirty="0"/>
          </a:p>
          <a:p>
            <a:r>
              <a:rPr lang="en-US" dirty="0" err="1"/>
              <a:t>Ghidra</a:t>
            </a:r>
            <a:r>
              <a:rPr lang="en-US" dirty="0"/>
              <a:t> was used to disassemble the program, create a call graph, see which standard library functions were called, and exposed 5 orphaned functions.</a:t>
            </a:r>
          </a:p>
          <a:p>
            <a:endParaRPr lang="en-US" dirty="0"/>
          </a:p>
          <a:p>
            <a:r>
              <a:rPr lang="en-US" dirty="0"/>
              <a:t>The last major tool we used was GDB for dynamic debugging.</a:t>
            </a:r>
          </a:p>
          <a:p>
            <a:endParaRPr lang="en-US" dirty="0"/>
          </a:p>
          <a:p>
            <a:r>
              <a:rPr lang="en-US" dirty="0" err="1"/>
              <a:t>Ltrace</a:t>
            </a:r>
            <a:r>
              <a:rPr lang="en-US" dirty="0"/>
              <a:t> and </a:t>
            </a:r>
            <a:r>
              <a:rPr lang="en-US" dirty="0" err="1"/>
              <a:t>strace</a:t>
            </a:r>
            <a:r>
              <a:rPr lang="en-US" dirty="0"/>
              <a:t> were used in the preliminary stages to clearly show the program’s flow, system/lib calls, and understand what inputs are valid.</a:t>
            </a:r>
          </a:p>
          <a:p>
            <a:endParaRPr lang="en-US" dirty="0"/>
          </a:p>
          <a:p>
            <a:r>
              <a:rPr lang="en-US" dirty="0"/>
              <a:t>Radare2 was briefly used, but is much more involved. Nothing new was found from using radare2, so results are omitted.</a:t>
            </a:r>
          </a:p>
          <a:p>
            <a:endParaRPr lang="en-US" dirty="0"/>
          </a:p>
          <a:p>
            <a:r>
              <a:rPr lang="en-US" dirty="0"/>
              <a:t>We took the static/dynamic approach since simply statically or dynamically analyzing this program would result in an incomplete analysis.</a:t>
            </a:r>
          </a:p>
          <a:p>
            <a:endParaRPr lang="en-US" dirty="0"/>
          </a:p>
          <a:p>
            <a:r>
              <a:rPr lang="en-US" dirty="0"/>
              <a:t>Static analysis shows us what could be executed and thus provide insight into potential behavior. Dynamic analysis shows us what does in fact occur.</a:t>
            </a:r>
          </a:p>
        </p:txBody>
      </p:sp>
      <p:sp>
        <p:nvSpPr>
          <p:cNvPr id="4" name="Slide Number Placeholder 3"/>
          <p:cNvSpPr>
            <a:spLocks noGrp="1"/>
          </p:cNvSpPr>
          <p:nvPr>
            <p:ph type="sldNum" sz="quarter" idx="5"/>
          </p:nvPr>
        </p:nvSpPr>
        <p:spPr/>
        <p:txBody>
          <a:bodyPr/>
          <a:lstStyle/>
          <a:p>
            <a:fld id="{335B839A-3CCD-7649-B165-B531E0BAB40A}" type="slidenum">
              <a:rPr lang="en-US" smtClean="0"/>
              <a:t>3</a:t>
            </a:fld>
            <a:endParaRPr lang="en-US"/>
          </a:p>
        </p:txBody>
      </p:sp>
    </p:spTree>
    <p:extLst>
      <p:ext uri="{BB962C8B-B14F-4D97-AF65-F5344CB8AC3E}">
        <p14:creationId xmlns:p14="http://schemas.microsoft.com/office/powerpoint/2010/main" val="170164595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45 sec</a:t>
            </a:r>
          </a:p>
          <a:p>
            <a:endParaRPr lang="en-US" dirty="0"/>
          </a:p>
          <a:p>
            <a:r>
              <a:rPr lang="en-US" dirty="0"/>
              <a:t>Here, we see the entropy spikes at the approximate program offsets. In the center of the screen, the falling entropy edge is 0.283684 which shows the entropy is very low indicating a plain-text simple program (not a lot of randomness.) This makes it very easy to learn RE.</a:t>
            </a:r>
          </a:p>
          <a:p>
            <a:endParaRPr lang="en-US" dirty="0"/>
          </a:p>
          <a:p>
            <a:r>
              <a:rPr lang="en-US" dirty="0"/>
              <a:t>On the bottom, the program’s checksum, and sectors are provided.</a:t>
            </a:r>
          </a:p>
          <a:p>
            <a:endParaRPr lang="en-US" dirty="0"/>
          </a:p>
          <a:p>
            <a:r>
              <a:rPr lang="en-US" dirty="0"/>
              <a:t>We are about the ELF section, which is the executable.</a:t>
            </a:r>
          </a:p>
          <a:p>
            <a:endParaRPr lang="en-US" dirty="0"/>
          </a:p>
          <a:p>
            <a:r>
              <a:rPr lang="en-US" dirty="0"/>
              <a:t>For this analysis, the ESP image is ignored as we will not try to exploit any loading.</a:t>
            </a:r>
          </a:p>
          <a:p>
            <a:endParaRPr lang="en-US" dirty="0"/>
          </a:p>
          <a:p>
            <a:endParaRPr lang="en-US" dirty="0"/>
          </a:p>
          <a:p>
            <a:endParaRPr lang="en-US" dirty="0"/>
          </a:p>
        </p:txBody>
      </p:sp>
      <p:sp>
        <p:nvSpPr>
          <p:cNvPr id="4" name="Slide Number Placeholder 3"/>
          <p:cNvSpPr>
            <a:spLocks noGrp="1"/>
          </p:cNvSpPr>
          <p:nvPr>
            <p:ph type="sldNum" sz="quarter" idx="5"/>
          </p:nvPr>
        </p:nvSpPr>
        <p:spPr/>
        <p:txBody>
          <a:bodyPr/>
          <a:lstStyle/>
          <a:p>
            <a:fld id="{335B839A-3CCD-7649-B165-B531E0BAB40A}" type="slidenum">
              <a:rPr lang="en-US" smtClean="0"/>
              <a:t>4</a:t>
            </a:fld>
            <a:endParaRPr lang="en-US"/>
          </a:p>
        </p:txBody>
      </p:sp>
    </p:spTree>
    <p:extLst>
      <p:ext uri="{BB962C8B-B14F-4D97-AF65-F5344CB8AC3E}">
        <p14:creationId xmlns:p14="http://schemas.microsoft.com/office/powerpoint/2010/main" val="231046714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40 sec</a:t>
            </a:r>
          </a:p>
          <a:p>
            <a:endParaRPr lang="en-US" dirty="0"/>
          </a:p>
          <a:p>
            <a:r>
              <a:rPr lang="en-US" dirty="0" err="1"/>
              <a:t>Ghidra</a:t>
            </a:r>
            <a:r>
              <a:rPr lang="en-US" dirty="0"/>
              <a:t> saved a lot of manual work resolving system and program calls. This also reversed names of function (single-character names).</a:t>
            </a:r>
          </a:p>
          <a:p>
            <a:endParaRPr lang="en-US" dirty="0"/>
          </a:p>
          <a:p>
            <a:r>
              <a:rPr lang="en-US" dirty="0"/>
              <a:t>It took the program and generated C code from the assembly.  The screenshot shows the raw version of main before renaming variables for comprehension.</a:t>
            </a:r>
          </a:p>
          <a:p>
            <a:endParaRPr lang="en-US" dirty="0"/>
          </a:p>
          <a:p>
            <a:endParaRPr lang="en-US" dirty="0"/>
          </a:p>
        </p:txBody>
      </p:sp>
      <p:sp>
        <p:nvSpPr>
          <p:cNvPr id="4" name="Slide Number Placeholder 3"/>
          <p:cNvSpPr>
            <a:spLocks noGrp="1"/>
          </p:cNvSpPr>
          <p:nvPr>
            <p:ph type="sldNum" sz="quarter" idx="5"/>
          </p:nvPr>
        </p:nvSpPr>
        <p:spPr/>
        <p:txBody>
          <a:bodyPr/>
          <a:lstStyle/>
          <a:p>
            <a:fld id="{335B839A-3CCD-7649-B165-B531E0BAB40A}" type="slidenum">
              <a:rPr lang="en-US" smtClean="0"/>
              <a:t>5</a:t>
            </a:fld>
            <a:endParaRPr lang="en-US"/>
          </a:p>
        </p:txBody>
      </p:sp>
    </p:spTree>
    <p:extLst>
      <p:ext uri="{BB962C8B-B14F-4D97-AF65-F5344CB8AC3E}">
        <p14:creationId xmlns:p14="http://schemas.microsoft.com/office/powerpoint/2010/main" val="395354497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 10 sec</a:t>
            </a:r>
          </a:p>
          <a:p>
            <a:endParaRPr lang="en-US" dirty="0"/>
          </a:p>
          <a:p>
            <a:r>
              <a:rPr lang="en-US" dirty="0"/>
              <a:t>These are the analysis options selected when importing the program. This stage allowed us to have </a:t>
            </a:r>
            <a:r>
              <a:rPr lang="en-US" dirty="0" err="1"/>
              <a:t>Ghidra</a:t>
            </a:r>
            <a:r>
              <a:rPr lang="en-US" dirty="0"/>
              <a:t> attempt to resolve names for functions and indicate types.</a:t>
            </a:r>
          </a:p>
        </p:txBody>
      </p:sp>
      <p:sp>
        <p:nvSpPr>
          <p:cNvPr id="4" name="Slide Number Placeholder 3"/>
          <p:cNvSpPr>
            <a:spLocks noGrp="1"/>
          </p:cNvSpPr>
          <p:nvPr>
            <p:ph type="sldNum" sz="quarter" idx="5"/>
          </p:nvPr>
        </p:nvSpPr>
        <p:spPr/>
        <p:txBody>
          <a:bodyPr/>
          <a:lstStyle/>
          <a:p>
            <a:fld id="{335B839A-3CCD-7649-B165-B531E0BAB40A}" type="slidenum">
              <a:rPr lang="en-US" smtClean="0"/>
              <a:t>6</a:t>
            </a:fld>
            <a:endParaRPr lang="en-US"/>
          </a:p>
        </p:txBody>
      </p:sp>
    </p:spTree>
    <p:extLst>
      <p:ext uri="{BB962C8B-B14F-4D97-AF65-F5344CB8AC3E}">
        <p14:creationId xmlns:p14="http://schemas.microsoft.com/office/powerpoint/2010/main" val="5617463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 10 sec</a:t>
            </a:r>
          </a:p>
          <a:p>
            <a:endParaRPr lang="en-US" dirty="0"/>
          </a:p>
          <a:p>
            <a:r>
              <a:rPr lang="en-US" dirty="0"/>
              <a:t>This is the summary from importing the program into </a:t>
            </a:r>
            <a:r>
              <a:rPr lang="en-US" dirty="0" err="1"/>
              <a:t>Ghidra</a:t>
            </a:r>
            <a:endParaRPr lang="en-US" dirty="0"/>
          </a:p>
        </p:txBody>
      </p:sp>
      <p:sp>
        <p:nvSpPr>
          <p:cNvPr id="4" name="Slide Number Placeholder 3"/>
          <p:cNvSpPr>
            <a:spLocks noGrp="1"/>
          </p:cNvSpPr>
          <p:nvPr>
            <p:ph type="sldNum" sz="quarter" idx="5"/>
          </p:nvPr>
        </p:nvSpPr>
        <p:spPr/>
        <p:txBody>
          <a:bodyPr/>
          <a:lstStyle/>
          <a:p>
            <a:fld id="{335B839A-3CCD-7649-B165-B531E0BAB40A}" type="slidenum">
              <a:rPr lang="en-US" smtClean="0"/>
              <a:t>7</a:t>
            </a:fld>
            <a:endParaRPr lang="en-US"/>
          </a:p>
        </p:txBody>
      </p:sp>
    </p:spTree>
    <p:extLst>
      <p:ext uri="{BB962C8B-B14F-4D97-AF65-F5344CB8AC3E}">
        <p14:creationId xmlns:p14="http://schemas.microsoft.com/office/powerpoint/2010/main" val="393660239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5-10 sec</a:t>
            </a:r>
          </a:p>
          <a:p>
            <a:endParaRPr lang="en-US" dirty="0"/>
          </a:p>
          <a:p>
            <a:r>
              <a:rPr lang="en-US" dirty="0"/>
              <a:t>This shows the call graph extracted from </a:t>
            </a:r>
            <a:r>
              <a:rPr lang="en-US" dirty="0" err="1"/>
              <a:t>Ghidra</a:t>
            </a:r>
            <a:r>
              <a:rPr lang="en-US" dirty="0"/>
              <a:t> including system calls.</a:t>
            </a:r>
          </a:p>
        </p:txBody>
      </p:sp>
      <p:sp>
        <p:nvSpPr>
          <p:cNvPr id="4" name="Slide Number Placeholder 3"/>
          <p:cNvSpPr>
            <a:spLocks noGrp="1"/>
          </p:cNvSpPr>
          <p:nvPr>
            <p:ph type="sldNum" sz="quarter" idx="5"/>
          </p:nvPr>
        </p:nvSpPr>
        <p:spPr/>
        <p:txBody>
          <a:bodyPr/>
          <a:lstStyle/>
          <a:p>
            <a:fld id="{335B839A-3CCD-7649-B165-B531E0BAB40A}" type="slidenum">
              <a:rPr lang="en-US" smtClean="0"/>
              <a:t>8</a:t>
            </a:fld>
            <a:endParaRPr lang="en-US"/>
          </a:p>
        </p:txBody>
      </p:sp>
    </p:spTree>
    <p:extLst>
      <p:ext uri="{BB962C8B-B14F-4D97-AF65-F5344CB8AC3E}">
        <p14:creationId xmlns:p14="http://schemas.microsoft.com/office/powerpoint/2010/main" val="311070085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 10 sec</a:t>
            </a:r>
          </a:p>
          <a:p>
            <a:r>
              <a:rPr lang="en-US" dirty="0"/>
              <a:t>This call graph shows user-defined functions clearing showing 5 orphaned functions. It identifies which functions need to called and in what order. There are 5 function which were called dynamically with </a:t>
            </a:r>
            <a:r>
              <a:rPr lang="en-US" dirty="0" err="1"/>
              <a:t>gdb</a:t>
            </a:r>
            <a:r>
              <a:rPr lang="en-US" dirty="0"/>
              <a:t>. Nothing is possibly dangerous from the look of this call graph. However, it does lead to closer investigation of the 5 functions to see if they are implicitly called with malicious intentions.</a:t>
            </a:r>
          </a:p>
        </p:txBody>
      </p:sp>
      <p:sp>
        <p:nvSpPr>
          <p:cNvPr id="4" name="Slide Number Placeholder 3"/>
          <p:cNvSpPr>
            <a:spLocks noGrp="1"/>
          </p:cNvSpPr>
          <p:nvPr>
            <p:ph type="sldNum" sz="quarter" idx="5"/>
          </p:nvPr>
        </p:nvSpPr>
        <p:spPr/>
        <p:txBody>
          <a:bodyPr/>
          <a:lstStyle/>
          <a:p>
            <a:fld id="{335B839A-3CCD-7649-B165-B531E0BAB40A}" type="slidenum">
              <a:rPr lang="en-US" smtClean="0"/>
              <a:t>9</a:t>
            </a:fld>
            <a:endParaRPr lang="en-US"/>
          </a:p>
        </p:txBody>
      </p:sp>
    </p:spTree>
    <p:extLst>
      <p:ext uri="{BB962C8B-B14F-4D97-AF65-F5344CB8AC3E}">
        <p14:creationId xmlns:p14="http://schemas.microsoft.com/office/powerpoint/2010/main" val="99153633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 10 sec</a:t>
            </a:r>
          </a:p>
          <a:p>
            <a:r>
              <a:rPr lang="en-US" dirty="0"/>
              <a:t>This is the main function call graph showing assembly.</a:t>
            </a:r>
          </a:p>
        </p:txBody>
      </p:sp>
      <p:sp>
        <p:nvSpPr>
          <p:cNvPr id="4" name="Slide Number Placeholder 3"/>
          <p:cNvSpPr>
            <a:spLocks noGrp="1"/>
          </p:cNvSpPr>
          <p:nvPr>
            <p:ph type="sldNum" sz="quarter" idx="5"/>
          </p:nvPr>
        </p:nvSpPr>
        <p:spPr/>
        <p:txBody>
          <a:bodyPr/>
          <a:lstStyle/>
          <a:p>
            <a:fld id="{335B839A-3CCD-7649-B165-B531E0BAB40A}" type="slidenum">
              <a:rPr lang="en-US" smtClean="0"/>
              <a:t>10</a:t>
            </a:fld>
            <a:endParaRPr lang="en-US"/>
          </a:p>
        </p:txBody>
      </p:sp>
    </p:spTree>
    <p:extLst>
      <p:ext uri="{BB962C8B-B14F-4D97-AF65-F5344CB8AC3E}">
        <p14:creationId xmlns:p14="http://schemas.microsoft.com/office/powerpoint/2010/main" val="68872131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30 sec</a:t>
            </a:r>
          </a:p>
          <a:p>
            <a:endParaRPr lang="en-US" dirty="0"/>
          </a:p>
          <a:p>
            <a:r>
              <a:rPr lang="en-US" dirty="0"/>
              <a:t>Here, we start the program then wait to be prompted. Once ready, we type “Hello” followed by the return key. This will send the literal string “Hello\n”.</a:t>
            </a:r>
          </a:p>
          <a:p>
            <a:endParaRPr lang="en-US" dirty="0"/>
          </a:p>
          <a:p>
            <a:r>
              <a:rPr lang="en-US" dirty="0"/>
              <a:t>Then it shows the </a:t>
            </a:r>
            <a:r>
              <a:rPr lang="en-US" dirty="0" err="1"/>
              <a:t>fgets</a:t>
            </a:r>
            <a:r>
              <a:rPr lang="en-US" dirty="0"/>
              <a:t> call and which calls are made from there. It helps trace a presumed-incorrect input. As we can see, </a:t>
            </a:r>
            <a:r>
              <a:rPr lang="en-US" dirty="0" err="1"/>
              <a:t>strtok</a:t>
            </a:r>
            <a:r>
              <a:rPr lang="en-US" dirty="0"/>
              <a:t> and 3 </a:t>
            </a:r>
            <a:r>
              <a:rPr lang="en-US" dirty="0" err="1"/>
              <a:t>strcmp</a:t>
            </a:r>
            <a:r>
              <a:rPr lang="en-US" dirty="0"/>
              <a:t> functions are called.</a:t>
            </a:r>
          </a:p>
          <a:p>
            <a:endParaRPr lang="en-US" dirty="0"/>
          </a:p>
          <a:p>
            <a:r>
              <a:rPr lang="en-US" dirty="0"/>
              <a:t>The </a:t>
            </a:r>
            <a:r>
              <a:rPr lang="en-US" dirty="0" err="1"/>
              <a:t>strcmp</a:t>
            </a:r>
            <a:r>
              <a:rPr lang="en-US" dirty="0"/>
              <a:t> calls leaks the valid command: run, </a:t>
            </a:r>
            <a:r>
              <a:rPr lang="en-US" dirty="0" err="1"/>
              <a:t>cmd</a:t>
            </a:r>
            <a:r>
              <a:rPr lang="en-US" dirty="0"/>
              <a:t>, and secret.</a:t>
            </a:r>
          </a:p>
          <a:p>
            <a:endParaRPr lang="en-US" dirty="0"/>
          </a:p>
          <a:p>
            <a:r>
              <a:rPr lang="en-US" dirty="0"/>
              <a:t>Finally, the program exits with code 0, so nothing went wrong even through nothing happened.</a:t>
            </a:r>
          </a:p>
        </p:txBody>
      </p:sp>
      <p:sp>
        <p:nvSpPr>
          <p:cNvPr id="4" name="Slide Number Placeholder 3"/>
          <p:cNvSpPr>
            <a:spLocks noGrp="1"/>
          </p:cNvSpPr>
          <p:nvPr>
            <p:ph type="sldNum" sz="quarter" idx="5"/>
          </p:nvPr>
        </p:nvSpPr>
        <p:spPr/>
        <p:txBody>
          <a:bodyPr/>
          <a:lstStyle/>
          <a:p>
            <a:fld id="{335B839A-3CCD-7649-B165-B531E0BAB40A}" type="slidenum">
              <a:rPr lang="en-US" smtClean="0"/>
              <a:t>11</a:t>
            </a:fld>
            <a:endParaRPr lang="en-US"/>
          </a:p>
        </p:txBody>
      </p:sp>
    </p:spTree>
    <p:extLst>
      <p:ext uri="{BB962C8B-B14F-4D97-AF65-F5344CB8AC3E}">
        <p14:creationId xmlns:p14="http://schemas.microsoft.com/office/powerpoint/2010/main" val="1801207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shows all the system calls. There is nothing out of the ordinary.</a:t>
            </a:r>
          </a:p>
          <a:p>
            <a:endParaRPr lang="en-US" dirty="0"/>
          </a:p>
          <a:p>
            <a:r>
              <a:rPr lang="en-US" dirty="0"/>
              <a:t>No options were loaded at program entry. </a:t>
            </a:r>
          </a:p>
        </p:txBody>
      </p:sp>
      <p:sp>
        <p:nvSpPr>
          <p:cNvPr id="4" name="Slide Number Placeholder 3"/>
          <p:cNvSpPr>
            <a:spLocks noGrp="1"/>
          </p:cNvSpPr>
          <p:nvPr>
            <p:ph type="sldNum" sz="quarter" idx="5"/>
          </p:nvPr>
        </p:nvSpPr>
        <p:spPr/>
        <p:txBody>
          <a:bodyPr/>
          <a:lstStyle/>
          <a:p>
            <a:fld id="{335B839A-3CCD-7649-B165-B531E0BAB40A}" type="slidenum">
              <a:rPr lang="en-US" smtClean="0"/>
              <a:t>12</a:t>
            </a:fld>
            <a:endParaRPr lang="en-US"/>
          </a:p>
        </p:txBody>
      </p:sp>
    </p:spTree>
    <p:extLst>
      <p:ext uri="{BB962C8B-B14F-4D97-AF65-F5344CB8AC3E}">
        <p14:creationId xmlns:p14="http://schemas.microsoft.com/office/powerpoint/2010/main" val="347026413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shows there is a lot of internal calls. it prints the shell prompt to </a:t>
            </a:r>
            <a:r>
              <a:rPr lang="en-US" dirty="0" err="1"/>
              <a:t>stdout</a:t>
            </a:r>
            <a:r>
              <a:rPr lang="en-US" dirty="0"/>
              <a:t>.</a:t>
            </a:r>
          </a:p>
          <a:p>
            <a:endParaRPr lang="en-US" dirty="0"/>
          </a:p>
          <a:p>
            <a:r>
              <a:rPr lang="en-US" dirty="0"/>
              <a:t>Not much was useful here either.</a:t>
            </a:r>
          </a:p>
        </p:txBody>
      </p:sp>
      <p:sp>
        <p:nvSpPr>
          <p:cNvPr id="4" name="Slide Number Placeholder 3"/>
          <p:cNvSpPr>
            <a:spLocks noGrp="1"/>
          </p:cNvSpPr>
          <p:nvPr>
            <p:ph type="sldNum" sz="quarter" idx="5"/>
          </p:nvPr>
        </p:nvSpPr>
        <p:spPr/>
        <p:txBody>
          <a:bodyPr/>
          <a:lstStyle/>
          <a:p>
            <a:fld id="{335B839A-3CCD-7649-B165-B531E0BAB40A}" type="slidenum">
              <a:rPr lang="en-US" smtClean="0"/>
              <a:t>13</a:t>
            </a:fld>
            <a:endParaRPr lang="en-US"/>
          </a:p>
        </p:txBody>
      </p:sp>
    </p:spTree>
    <p:extLst>
      <p:ext uri="{BB962C8B-B14F-4D97-AF65-F5344CB8AC3E}">
        <p14:creationId xmlns:p14="http://schemas.microsoft.com/office/powerpoint/2010/main" val="23708257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the call to read is from the function call gets. It reads up to 1024 bytes. This indicates there is a median buffer this data is stored into prior to </a:t>
            </a:r>
            <a:r>
              <a:rPr lang="en-US" dirty="0" err="1"/>
              <a:t>fgets</a:t>
            </a:r>
            <a:r>
              <a:rPr lang="en-US" dirty="0"/>
              <a:t> storing it in the program’s buffer.</a:t>
            </a:r>
          </a:p>
          <a:p>
            <a:endParaRPr lang="en-US" dirty="0"/>
          </a:p>
          <a:p>
            <a:r>
              <a:rPr lang="en-US" dirty="0"/>
              <a:t>In all, the system trace file did not provide meaningful insight to the reversal process.</a:t>
            </a:r>
          </a:p>
        </p:txBody>
      </p:sp>
      <p:sp>
        <p:nvSpPr>
          <p:cNvPr id="4" name="Slide Number Placeholder 3"/>
          <p:cNvSpPr>
            <a:spLocks noGrp="1"/>
          </p:cNvSpPr>
          <p:nvPr>
            <p:ph type="sldNum" sz="quarter" idx="5"/>
          </p:nvPr>
        </p:nvSpPr>
        <p:spPr/>
        <p:txBody>
          <a:bodyPr/>
          <a:lstStyle/>
          <a:p>
            <a:fld id="{335B839A-3CCD-7649-B165-B531E0BAB40A}" type="slidenum">
              <a:rPr lang="en-US" smtClean="0"/>
              <a:t>14</a:t>
            </a:fld>
            <a:endParaRPr lang="en-US"/>
          </a:p>
        </p:txBody>
      </p:sp>
    </p:spTree>
    <p:extLst>
      <p:ext uri="{BB962C8B-B14F-4D97-AF65-F5344CB8AC3E}">
        <p14:creationId xmlns:p14="http://schemas.microsoft.com/office/powerpoint/2010/main" val="168520411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 min</a:t>
            </a:r>
          </a:p>
          <a:p>
            <a:endParaRPr lang="en-US" dirty="0"/>
          </a:p>
          <a:p>
            <a:r>
              <a:rPr lang="en-US" dirty="0"/>
              <a:t>Summarize table able</a:t>
            </a:r>
          </a:p>
        </p:txBody>
      </p:sp>
      <p:sp>
        <p:nvSpPr>
          <p:cNvPr id="4" name="Slide Number Placeholder 3"/>
          <p:cNvSpPr>
            <a:spLocks noGrp="1"/>
          </p:cNvSpPr>
          <p:nvPr>
            <p:ph type="sldNum" sz="quarter" idx="5"/>
          </p:nvPr>
        </p:nvSpPr>
        <p:spPr/>
        <p:txBody>
          <a:bodyPr/>
          <a:lstStyle/>
          <a:p>
            <a:fld id="{335B839A-3CCD-7649-B165-B531E0BAB40A}" type="slidenum">
              <a:rPr lang="en-US" smtClean="0"/>
              <a:t>15</a:t>
            </a:fld>
            <a:endParaRPr lang="en-US"/>
          </a:p>
        </p:txBody>
      </p:sp>
    </p:spTree>
    <p:extLst>
      <p:ext uri="{BB962C8B-B14F-4D97-AF65-F5344CB8AC3E}">
        <p14:creationId xmlns:p14="http://schemas.microsoft.com/office/powerpoint/2010/main" val="382591241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Under case f == 1, </a:t>
            </a:r>
            <a:r>
              <a:rPr lang="en-US" dirty="0" err="1"/>
              <a:t>strcpy</a:t>
            </a:r>
            <a:r>
              <a:rPr lang="en-US" dirty="0"/>
              <a:t> will unconditionally copy the contents of g into q. This shows that return addresses can be overwritten and other variable may be written. This means a different function could be executed and leak data. Many times, the program will be terminated by attempting to write at q’s 65</a:t>
            </a:r>
            <a:r>
              <a:rPr lang="en-US" baseline="30000" dirty="0"/>
              <a:t>th</a:t>
            </a:r>
            <a:r>
              <a:rPr lang="en-US" dirty="0"/>
              <a:t> index.</a:t>
            </a:r>
          </a:p>
          <a:p>
            <a:endParaRPr lang="en-US" dirty="0"/>
          </a:p>
          <a:p>
            <a:r>
              <a:rPr lang="en-US" dirty="0"/>
              <a:t>In the second case, there could be an array of chars, not a string (terminating null char acter missing).</a:t>
            </a:r>
          </a:p>
        </p:txBody>
      </p:sp>
      <p:sp>
        <p:nvSpPr>
          <p:cNvPr id="4" name="Slide Number Placeholder 3"/>
          <p:cNvSpPr>
            <a:spLocks noGrp="1"/>
          </p:cNvSpPr>
          <p:nvPr>
            <p:ph type="sldNum" sz="quarter" idx="5"/>
          </p:nvPr>
        </p:nvSpPr>
        <p:spPr/>
        <p:txBody>
          <a:bodyPr/>
          <a:lstStyle/>
          <a:p>
            <a:fld id="{335B839A-3CCD-7649-B165-B531E0BAB40A}" type="slidenum">
              <a:rPr lang="en-US" smtClean="0"/>
              <a:t>16</a:t>
            </a:fld>
            <a:endParaRPr lang="en-US"/>
          </a:p>
        </p:txBody>
      </p:sp>
    </p:spTree>
    <p:extLst>
      <p:ext uri="{BB962C8B-B14F-4D97-AF65-F5344CB8AC3E}">
        <p14:creationId xmlns:p14="http://schemas.microsoft.com/office/powerpoint/2010/main" val="367897546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the screenshot shows, calling </a:t>
            </a:r>
            <a:r>
              <a:rPr lang="en-US" dirty="0" err="1"/>
              <a:t>func</a:t>
            </a:r>
            <a:r>
              <a:rPr lang="en-US" dirty="0"/>
              <a:t> k, renamed to </a:t>
            </a:r>
            <a:r>
              <a:rPr lang="en-US" dirty="0" err="1"/>
              <a:t>read_running_processes_on_comp</a:t>
            </a:r>
            <a:r>
              <a:rPr lang="en-US" dirty="0"/>
              <a:t>, the memory map of the device is printed. This could be used by the program to attempt read access to critical programs running.</a:t>
            </a:r>
          </a:p>
          <a:p>
            <a:endParaRPr lang="en-US" dirty="0"/>
          </a:p>
          <a:p>
            <a:r>
              <a:rPr lang="en-US" dirty="0"/>
              <a:t>While it is not dangerous to print the /proc/self/maps interface, the ability for potentially insecure apps to read it are a concern.</a:t>
            </a:r>
          </a:p>
        </p:txBody>
      </p:sp>
      <p:sp>
        <p:nvSpPr>
          <p:cNvPr id="4" name="Slide Number Placeholder 3"/>
          <p:cNvSpPr>
            <a:spLocks noGrp="1"/>
          </p:cNvSpPr>
          <p:nvPr>
            <p:ph type="sldNum" sz="quarter" idx="5"/>
          </p:nvPr>
        </p:nvSpPr>
        <p:spPr/>
        <p:txBody>
          <a:bodyPr/>
          <a:lstStyle/>
          <a:p>
            <a:fld id="{335B839A-3CCD-7649-B165-B531E0BAB40A}" type="slidenum">
              <a:rPr lang="en-US" smtClean="0"/>
              <a:t>18</a:t>
            </a:fld>
            <a:endParaRPr lang="en-US"/>
          </a:p>
        </p:txBody>
      </p:sp>
    </p:spTree>
    <p:extLst>
      <p:ext uri="{BB962C8B-B14F-4D97-AF65-F5344CB8AC3E}">
        <p14:creationId xmlns:p14="http://schemas.microsoft.com/office/powerpoint/2010/main" val="85487195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fontAlgn="base"/>
            <a:r>
              <a:rPr lang="en-US" sz="1200" b="0" i="0" kern="1200" dirty="0">
                <a:solidFill>
                  <a:schemeClr val="tx1"/>
                </a:solidFill>
                <a:effectLst/>
                <a:latin typeface="+mn-lt"/>
                <a:ea typeface="+mn-ea"/>
                <a:cs typeface="+mn-cs"/>
              </a:rPr>
              <a:t>1. Replace the unsafe </a:t>
            </a:r>
            <a:r>
              <a:rPr lang="en-US" sz="1200" b="0" i="0" kern="1200" dirty="0" err="1">
                <a:solidFill>
                  <a:schemeClr val="tx1"/>
                </a:solidFill>
                <a:effectLst/>
                <a:latin typeface="+mn-lt"/>
                <a:ea typeface="+mn-ea"/>
                <a:cs typeface="+mn-cs"/>
              </a:rPr>
              <a:t>strcpy</a:t>
            </a:r>
            <a:endParaRPr lang="en-US" sz="1200" b="0" i="0" kern="1200" dirty="0">
              <a:solidFill>
                <a:schemeClr val="tx1"/>
              </a:solidFill>
              <a:effectLst/>
              <a:latin typeface="+mn-lt"/>
              <a:ea typeface="+mn-ea"/>
              <a:cs typeface="+mn-cs"/>
            </a:endParaRPr>
          </a:p>
          <a:p>
            <a:pPr fontAlgn="base"/>
            <a:r>
              <a:rPr lang="en-US" sz="1200" kern="1200" dirty="0">
                <a:solidFill>
                  <a:schemeClr val="tx1"/>
                </a:solidFill>
                <a:effectLst/>
                <a:latin typeface="+mn-lt"/>
                <a:ea typeface="+mn-ea"/>
                <a:cs typeface="+mn-cs"/>
              </a:rPr>
              <a:t>“The run 1 path copies the user string with </a:t>
            </a:r>
            <a:r>
              <a:rPr lang="en-US" sz="1200" kern="1200" dirty="0" err="1">
                <a:solidFill>
                  <a:schemeClr val="tx1"/>
                </a:solidFill>
                <a:effectLst/>
                <a:latin typeface="+mn-lt"/>
                <a:ea typeface="+mn-ea"/>
                <a:cs typeface="+mn-cs"/>
              </a:rPr>
              <a:t>strcpy</a:t>
            </a:r>
            <a:r>
              <a:rPr lang="en-US" sz="1200" kern="1200" dirty="0">
                <a:solidFill>
                  <a:schemeClr val="tx1"/>
                </a:solidFill>
                <a:effectLst/>
                <a:latin typeface="+mn-lt"/>
                <a:ea typeface="+mn-ea"/>
                <a:cs typeface="+mn-cs"/>
              </a:rPr>
              <a:t>, which ignores the destination size. The quick, safe fix is to use a bounded function. For example:</a:t>
            </a:r>
          </a:p>
          <a:p>
            <a:pPr fontAlgn="base"/>
            <a:r>
              <a:rPr lang="en-US" sz="1200" kern="1200" dirty="0">
                <a:solidFill>
                  <a:schemeClr val="tx1"/>
                </a:solidFill>
                <a:effectLst/>
                <a:latin typeface="+mn-lt"/>
                <a:ea typeface="+mn-ea"/>
                <a:cs typeface="+mn-cs"/>
              </a:rPr>
              <a:t>c</a:t>
            </a:r>
          </a:p>
          <a:p>
            <a:pPr fontAlgn="base"/>
            <a:r>
              <a:rPr lang="en-US" sz="1200" kern="1200" dirty="0" err="1">
                <a:solidFill>
                  <a:schemeClr val="tx1"/>
                </a:solidFill>
                <a:effectLst/>
                <a:latin typeface="+mn-lt"/>
                <a:ea typeface="+mn-ea"/>
                <a:cs typeface="+mn-cs"/>
              </a:rPr>
              <a:t>snprintf</a:t>
            </a:r>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buf</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sizeof</a:t>
            </a:r>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buf</a:t>
            </a:r>
            <a:r>
              <a:rPr lang="en-US" sz="1200" kern="1200" dirty="0">
                <a:solidFill>
                  <a:schemeClr val="tx1"/>
                </a:solidFill>
                <a:effectLst/>
                <a:latin typeface="+mn-lt"/>
                <a:ea typeface="+mn-ea"/>
                <a:cs typeface="+mn-cs"/>
              </a:rPr>
              <a:t>), "%s", </a:t>
            </a:r>
            <a:r>
              <a:rPr lang="en-US" sz="1200" kern="1200" dirty="0" err="1">
                <a:solidFill>
                  <a:schemeClr val="tx1"/>
                </a:solidFill>
                <a:effectLst/>
                <a:latin typeface="+mn-lt"/>
                <a:ea typeface="+mn-ea"/>
                <a:cs typeface="+mn-cs"/>
              </a:rPr>
              <a:t>user_input</a:t>
            </a:r>
            <a:r>
              <a:rPr lang="en-US" sz="1200" kern="1200" dirty="0">
                <a:solidFill>
                  <a:schemeClr val="tx1"/>
                </a:solidFill>
                <a:effectLst/>
                <a:latin typeface="+mn-lt"/>
                <a:ea typeface="+mn-ea"/>
                <a:cs typeface="+mn-cs"/>
              </a:rPr>
              <a:t>);</a:t>
            </a:r>
          </a:p>
          <a:p>
            <a:pPr fontAlgn="base"/>
            <a:r>
              <a:rPr lang="en-US" sz="1200" kern="1200" dirty="0" err="1">
                <a:solidFill>
                  <a:schemeClr val="tx1"/>
                </a:solidFill>
                <a:effectLst/>
                <a:latin typeface="+mn-lt"/>
                <a:ea typeface="+mn-ea"/>
                <a:cs typeface="+mn-cs"/>
              </a:rPr>
              <a:t>snprintf</a:t>
            </a:r>
            <a:r>
              <a:rPr lang="en-US" sz="1200" kern="1200" dirty="0">
                <a:solidFill>
                  <a:schemeClr val="tx1"/>
                </a:solidFill>
                <a:effectLst/>
                <a:latin typeface="+mn-lt"/>
                <a:ea typeface="+mn-ea"/>
                <a:cs typeface="+mn-cs"/>
              </a:rPr>
              <a:t> guarantees that no more than </a:t>
            </a:r>
            <a:r>
              <a:rPr lang="en-US" sz="1200" kern="1200" dirty="0" err="1">
                <a:solidFill>
                  <a:schemeClr val="tx1"/>
                </a:solidFill>
                <a:effectLst/>
                <a:latin typeface="+mn-lt"/>
                <a:ea typeface="+mn-ea"/>
                <a:cs typeface="+mn-cs"/>
              </a:rPr>
              <a:t>sizeof</a:t>
            </a:r>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buf</a:t>
            </a:r>
            <a:r>
              <a:rPr lang="en-US" sz="1200" kern="1200" dirty="0">
                <a:solidFill>
                  <a:schemeClr val="tx1"/>
                </a:solidFill>
                <a:effectLst/>
                <a:latin typeface="+mn-lt"/>
                <a:ea typeface="+mn-ea"/>
                <a:cs typeface="+mn-cs"/>
              </a:rPr>
              <a:t>)‑1 bytes are written and always NUL‑terminates the buffer.”</a:t>
            </a:r>
          </a:p>
          <a:p>
            <a:pPr fontAlgn="base"/>
            <a:r>
              <a:rPr lang="en-US" sz="1200" b="0" i="0" kern="1200" dirty="0">
                <a:solidFill>
                  <a:schemeClr val="tx1"/>
                </a:solidFill>
                <a:effectLst/>
                <a:latin typeface="+mn-lt"/>
                <a:ea typeface="+mn-ea"/>
                <a:cs typeface="+mn-cs"/>
              </a:rPr>
              <a:t>2. Ensure </a:t>
            </a:r>
            <a:r>
              <a:rPr lang="en-US" sz="1200" b="0" i="0" kern="1200" dirty="0" err="1">
                <a:solidFill>
                  <a:schemeClr val="tx1"/>
                </a:solidFill>
                <a:effectLst/>
                <a:latin typeface="+mn-lt"/>
                <a:ea typeface="+mn-ea"/>
                <a:cs typeface="+mn-cs"/>
              </a:rPr>
              <a:t>strncpy</a:t>
            </a:r>
            <a:r>
              <a:rPr lang="en-US" sz="1200" b="0" i="0" kern="1200" dirty="0">
                <a:solidFill>
                  <a:schemeClr val="tx1"/>
                </a:solidFill>
                <a:effectLst/>
                <a:latin typeface="+mn-lt"/>
                <a:ea typeface="+mn-ea"/>
                <a:cs typeface="+mn-cs"/>
              </a:rPr>
              <a:t> always NUL‑terminates</a:t>
            </a:r>
          </a:p>
          <a:p>
            <a:pPr fontAlgn="base"/>
            <a:r>
              <a:rPr lang="en-US" sz="1200" kern="1200" dirty="0">
                <a:solidFill>
                  <a:schemeClr val="tx1"/>
                </a:solidFill>
                <a:effectLst/>
                <a:latin typeface="+mn-lt"/>
                <a:ea typeface="+mn-ea"/>
                <a:cs typeface="+mn-cs"/>
              </a:rPr>
              <a:t>“Option 2 uses </a:t>
            </a:r>
            <a:r>
              <a:rPr lang="en-US" sz="1200" kern="1200" dirty="0" err="1">
                <a:solidFill>
                  <a:schemeClr val="tx1"/>
                </a:solidFill>
                <a:effectLst/>
                <a:latin typeface="+mn-lt"/>
                <a:ea typeface="+mn-ea"/>
                <a:cs typeface="+mn-cs"/>
              </a:rPr>
              <a:t>strncpy</a:t>
            </a:r>
            <a:r>
              <a:rPr lang="en-US" sz="1200" kern="1200" dirty="0">
                <a:solidFill>
                  <a:schemeClr val="tx1"/>
                </a:solidFill>
                <a:effectLst/>
                <a:latin typeface="+mn-lt"/>
                <a:ea typeface="+mn-ea"/>
                <a:cs typeface="+mn-cs"/>
              </a:rPr>
              <a:t>, but if the source is longer than the buffer the terminator is omitted. After the call we should force it:</a:t>
            </a:r>
          </a:p>
          <a:p>
            <a:pPr fontAlgn="base"/>
            <a:r>
              <a:rPr lang="en-US" sz="1200" kern="1200" dirty="0">
                <a:solidFill>
                  <a:schemeClr val="tx1"/>
                </a:solidFill>
                <a:effectLst/>
                <a:latin typeface="+mn-lt"/>
                <a:ea typeface="+mn-ea"/>
                <a:cs typeface="+mn-cs"/>
              </a:rPr>
              <a:t>c</a:t>
            </a:r>
          </a:p>
          <a:p>
            <a:pPr fontAlgn="base"/>
            <a:r>
              <a:rPr lang="en-US" sz="1200" kern="1200" dirty="0" err="1">
                <a:solidFill>
                  <a:schemeClr val="tx1"/>
                </a:solidFill>
                <a:effectLst/>
                <a:latin typeface="+mn-lt"/>
                <a:ea typeface="+mn-ea"/>
                <a:cs typeface="+mn-cs"/>
              </a:rPr>
              <a:t>strncpy</a:t>
            </a:r>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buf</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user_input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sizeof</a:t>
            </a:r>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buf</a:t>
            </a:r>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buf</a:t>
            </a:r>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sizeof</a:t>
            </a:r>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buf</a:t>
            </a:r>
            <a:r>
              <a:rPr lang="en-US" sz="1200" kern="1200" dirty="0">
                <a:solidFill>
                  <a:schemeClr val="tx1"/>
                </a:solidFill>
                <a:effectLst/>
                <a:latin typeface="+mn-lt"/>
                <a:ea typeface="+mn-ea"/>
                <a:cs typeface="+mn-cs"/>
              </a:rPr>
              <a:t>)-1] = '\0';</a:t>
            </a:r>
          </a:p>
          <a:p>
            <a:pPr fontAlgn="base"/>
            <a:r>
              <a:rPr lang="en-US" sz="1200" kern="1200" dirty="0">
                <a:solidFill>
                  <a:schemeClr val="tx1"/>
                </a:solidFill>
                <a:effectLst/>
                <a:latin typeface="+mn-lt"/>
                <a:ea typeface="+mn-ea"/>
                <a:cs typeface="+mn-cs"/>
              </a:rPr>
              <a:t>This preserves the intended length check while keeping the string well‑formed.”</a:t>
            </a:r>
          </a:p>
          <a:p>
            <a:endParaRPr lang="en-US" dirty="0"/>
          </a:p>
          <a:p>
            <a:endParaRPr lang="en-US" dirty="0"/>
          </a:p>
          <a:p>
            <a:pPr fontAlgn="base"/>
            <a:r>
              <a:rPr lang="en-US" sz="1200" b="0" i="0" kern="1200" dirty="0">
                <a:solidFill>
                  <a:schemeClr val="tx1"/>
                </a:solidFill>
                <a:effectLst/>
                <a:latin typeface="+mn-lt"/>
                <a:ea typeface="+mn-ea"/>
                <a:cs typeface="+mn-cs"/>
              </a:rPr>
              <a:t>3. Validate numeric arguments before </a:t>
            </a:r>
            <a:r>
              <a:rPr lang="en-US" sz="1200" b="0" i="0" kern="1200" dirty="0" err="1">
                <a:solidFill>
                  <a:schemeClr val="tx1"/>
                </a:solidFill>
                <a:effectLst/>
                <a:latin typeface="+mn-lt"/>
                <a:ea typeface="+mn-ea"/>
                <a:cs typeface="+mn-cs"/>
              </a:rPr>
              <a:t>atoi</a:t>
            </a:r>
            <a:endParaRPr lang="en-US" sz="1200" b="0" i="0" kern="1200" dirty="0">
              <a:solidFill>
                <a:schemeClr val="tx1"/>
              </a:solidFill>
              <a:effectLst/>
              <a:latin typeface="+mn-lt"/>
              <a:ea typeface="+mn-ea"/>
              <a:cs typeface="+mn-cs"/>
            </a:endParaRPr>
          </a:p>
          <a:p>
            <a:pPr fontAlgn="base"/>
            <a:r>
              <a:rPr lang="en-US" sz="1200" kern="1200" dirty="0">
                <a:solidFill>
                  <a:schemeClr val="tx1"/>
                </a:solidFill>
                <a:effectLst/>
                <a:latin typeface="+mn-lt"/>
                <a:ea typeface="+mn-ea"/>
                <a:cs typeface="+mn-cs"/>
              </a:rPr>
              <a:t>“run expects a numeric option (1, 2, or 3). Currently it calls </a:t>
            </a:r>
            <a:r>
              <a:rPr lang="en-US" sz="1200" kern="1200" dirty="0" err="1">
                <a:solidFill>
                  <a:schemeClr val="tx1"/>
                </a:solidFill>
                <a:effectLst/>
                <a:latin typeface="+mn-lt"/>
                <a:ea typeface="+mn-ea"/>
                <a:cs typeface="+mn-cs"/>
              </a:rPr>
              <a:t>atoi</a:t>
            </a:r>
            <a:r>
              <a:rPr lang="en-US" sz="1200" kern="1200" dirty="0">
                <a:solidFill>
                  <a:schemeClr val="tx1"/>
                </a:solidFill>
                <a:effectLst/>
                <a:latin typeface="+mn-lt"/>
                <a:ea typeface="+mn-ea"/>
                <a:cs typeface="+mn-cs"/>
              </a:rPr>
              <a:t> directly, which returns 0 on any non‑numeric input and can lead to undefined branches. Replace it with </a:t>
            </a:r>
            <a:r>
              <a:rPr lang="en-US" sz="1200" kern="1200" dirty="0" err="1">
                <a:solidFill>
                  <a:schemeClr val="tx1"/>
                </a:solidFill>
                <a:effectLst/>
                <a:latin typeface="+mn-lt"/>
                <a:ea typeface="+mn-ea"/>
                <a:cs typeface="+mn-cs"/>
              </a:rPr>
              <a:t>strtol</a:t>
            </a:r>
            <a:r>
              <a:rPr lang="en-US" sz="1200" kern="1200" dirty="0">
                <a:solidFill>
                  <a:schemeClr val="tx1"/>
                </a:solidFill>
                <a:effectLst/>
                <a:latin typeface="+mn-lt"/>
                <a:ea typeface="+mn-ea"/>
                <a:cs typeface="+mn-cs"/>
              </a:rPr>
              <a:t>() and check the end‑pointer and range errors before using the value.”</a:t>
            </a:r>
          </a:p>
          <a:p>
            <a:endParaRPr lang="en-US" dirty="0"/>
          </a:p>
          <a:p>
            <a:pPr fontAlgn="base"/>
            <a:r>
              <a:rPr lang="en-US" sz="1200" b="0" i="0" kern="1200" dirty="0">
                <a:solidFill>
                  <a:schemeClr val="tx1"/>
                </a:solidFill>
                <a:effectLst/>
                <a:latin typeface="+mn-lt"/>
                <a:ea typeface="+mn-ea"/>
                <a:cs typeface="+mn-cs"/>
              </a:rPr>
              <a:t>4. Write secret data to a safe location</a:t>
            </a:r>
          </a:p>
          <a:p>
            <a:pPr fontAlgn="base"/>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write_secret_file</a:t>
            </a:r>
            <a:r>
              <a:rPr lang="en-US" sz="1200" kern="1200" dirty="0">
                <a:solidFill>
                  <a:schemeClr val="tx1"/>
                </a:solidFill>
                <a:effectLst/>
                <a:latin typeface="+mn-lt"/>
                <a:ea typeface="+mn-ea"/>
                <a:cs typeface="+mn-cs"/>
              </a:rPr>
              <a:t> currently writes to /</a:t>
            </a:r>
            <a:r>
              <a:rPr lang="en-US" sz="1200" kern="1200" dirty="0" err="1">
                <a:solidFill>
                  <a:schemeClr val="tx1"/>
                </a:solidFill>
                <a:effectLst/>
                <a:latin typeface="+mn-lt"/>
                <a:ea typeface="+mn-ea"/>
                <a:cs typeface="+mn-cs"/>
              </a:rPr>
              <a:t>tmp</a:t>
            </a:r>
            <a:r>
              <a:rPr lang="en-US" sz="1200" kern="1200" dirty="0">
                <a:solidFill>
                  <a:schemeClr val="tx1"/>
                </a:solidFill>
                <a:effectLst/>
                <a:latin typeface="+mn-lt"/>
                <a:ea typeface="+mn-ea"/>
                <a:cs typeface="+mn-cs"/>
              </a:rPr>
              <a:t>/.hidden_&lt;PID&gt;, a directory world‑writable. A better practice is to use a per‑user, permission‑restricted path, e.g., $HOME/.local/</a:t>
            </a:r>
            <a:r>
              <a:rPr lang="en-US" sz="1200" kern="1200" dirty="0" err="1">
                <a:solidFill>
                  <a:schemeClr val="tx1"/>
                </a:solidFill>
                <a:effectLst/>
                <a:latin typeface="+mn-lt"/>
                <a:ea typeface="+mn-ea"/>
                <a:cs typeface="+mn-cs"/>
              </a:rPr>
              <a:t>secret_data</a:t>
            </a:r>
            <a:r>
              <a:rPr lang="en-US" sz="1200" kern="1200" dirty="0">
                <a:solidFill>
                  <a:schemeClr val="tx1"/>
                </a:solidFill>
                <a:effectLst/>
                <a:latin typeface="+mn-lt"/>
                <a:ea typeface="+mn-ea"/>
                <a:cs typeface="+mn-cs"/>
              </a:rPr>
              <a:t>. This prevents other users on the system from reading or overwriting the file.”</a:t>
            </a:r>
          </a:p>
          <a:p>
            <a:pPr fontAlgn="base"/>
            <a:endParaRPr lang="en-US" sz="1200" kern="1200" dirty="0">
              <a:solidFill>
                <a:schemeClr val="tx1"/>
              </a:solidFill>
              <a:effectLst/>
              <a:latin typeface="+mn-lt"/>
              <a:ea typeface="+mn-ea"/>
              <a:cs typeface="+mn-cs"/>
            </a:endParaRPr>
          </a:p>
          <a:p>
            <a:pPr fontAlgn="base"/>
            <a:r>
              <a:rPr lang="en-US" sz="1200" b="0" i="0" kern="1200" dirty="0">
                <a:solidFill>
                  <a:schemeClr val="tx1"/>
                </a:solidFill>
                <a:effectLst/>
                <a:latin typeface="+mn-lt"/>
                <a:ea typeface="+mn-ea"/>
                <a:cs typeface="+mn-cs"/>
              </a:rPr>
              <a:t>Harden the binary at compile‑time</a:t>
            </a:r>
          </a:p>
          <a:p>
            <a:pPr fontAlgn="base"/>
            <a:r>
              <a:rPr lang="en-US" sz="1200" kern="1200" dirty="0">
                <a:solidFill>
                  <a:schemeClr val="tx1"/>
                </a:solidFill>
                <a:effectLst/>
                <a:latin typeface="+mn-lt"/>
                <a:ea typeface="+mn-ea"/>
                <a:cs typeface="+mn-cs"/>
              </a:rPr>
              <a:t>“Enable the compiler’s built‑in protections:</a:t>
            </a:r>
          </a:p>
          <a:p>
            <a:pPr fontAlgn="base"/>
            <a:r>
              <a:rPr lang="en-US" sz="1200" kern="1200" dirty="0">
                <a:solidFill>
                  <a:schemeClr val="tx1"/>
                </a:solidFill>
                <a:effectLst/>
                <a:latin typeface="+mn-lt"/>
                <a:ea typeface="+mn-ea"/>
                <a:cs typeface="+mn-cs"/>
              </a:rPr>
              <a:t>bash</a:t>
            </a:r>
          </a:p>
          <a:p>
            <a:pPr fontAlgn="base"/>
            <a:r>
              <a:rPr lang="en-US" sz="1200" kern="1200" dirty="0" err="1">
                <a:solidFill>
                  <a:schemeClr val="tx1"/>
                </a:solidFill>
                <a:effectLst/>
                <a:latin typeface="+mn-lt"/>
                <a:ea typeface="+mn-ea"/>
                <a:cs typeface="+mn-cs"/>
              </a:rPr>
              <a:t>gcc</a:t>
            </a:r>
            <a:r>
              <a:rPr lang="en-US" sz="1200" kern="1200" dirty="0">
                <a:solidFill>
                  <a:schemeClr val="tx1"/>
                </a:solidFill>
                <a:effectLst/>
                <a:latin typeface="+mn-lt"/>
                <a:ea typeface="+mn-ea"/>
                <a:cs typeface="+mn-cs"/>
              </a:rPr>
              <a:t> -Wall -</a:t>
            </a:r>
            <a:r>
              <a:rPr lang="en-US" sz="1200" kern="1200" dirty="0" err="1">
                <a:solidFill>
                  <a:schemeClr val="tx1"/>
                </a:solidFill>
                <a:effectLst/>
                <a:latin typeface="+mn-lt"/>
                <a:ea typeface="+mn-ea"/>
                <a:cs typeface="+mn-cs"/>
              </a:rPr>
              <a:t>Wextra</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fstack</a:t>
            </a:r>
            <a:r>
              <a:rPr lang="en-US" sz="1200" kern="1200" dirty="0">
                <a:solidFill>
                  <a:schemeClr val="tx1"/>
                </a:solidFill>
                <a:effectLst/>
                <a:latin typeface="+mn-lt"/>
                <a:ea typeface="+mn-ea"/>
                <a:cs typeface="+mn-cs"/>
              </a:rPr>
              <a:t>-protector-strong -D_FORTIFY_SOURCE=2 \ -pie -</a:t>
            </a:r>
            <a:r>
              <a:rPr lang="en-US" sz="1200" kern="1200" dirty="0" err="1">
                <a:solidFill>
                  <a:schemeClr val="tx1"/>
                </a:solidFill>
                <a:effectLst/>
                <a:latin typeface="+mn-lt"/>
                <a:ea typeface="+mn-ea"/>
                <a:cs typeface="+mn-cs"/>
              </a:rPr>
              <a:t>Wl</a:t>
            </a:r>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z,relro</a:t>
            </a:r>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z,now</a:t>
            </a:r>
            <a:r>
              <a:rPr lang="en-US" sz="1200" kern="1200" dirty="0">
                <a:solidFill>
                  <a:schemeClr val="tx1"/>
                </a:solidFill>
                <a:effectLst/>
                <a:latin typeface="+mn-lt"/>
                <a:ea typeface="+mn-ea"/>
                <a:cs typeface="+mn-cs"/>
              </a:rPr>
              <a:t> -o target </a:t>
            </a:r>
            <a:r>
              <a:rPr lang="en-US" sz="1200" kern="1200" dirty="0" err="1">
                <a:solidFill>
                  <a:schemeClr val="tx1"/>
                </a:solidFill>
                <a:effectLst/>
                <a:latin typeface="+mn-lt"/>
                <a:ea typeface="+mn-ea"/>
                <a:cs typeface="+mn-cs"/>
              </a:rPr>
              <a:t>source.c</a:t>
            </a:r>
            <a:endParaRPr lang="en-US" sz="1200" kern="1200" dirty="0">
              <a:solidFill>
                <a:schemeClr val="tx1"/>
              </a:solidFill>
              <a:effectLst/>
              <a:latin typeface="+mn-lt"/>
              <a:ea typeface="+mn-ea"/>
              <a:cs typeface="+mn-cs"/>
            </a:endParaRPr>
          </a:p>
          <a:p>
            <a:pPr fontAlgn="base"/>
            <a:endParaRPr lang="en-US" sz="1200" kern="1200" dirty="0">
              <a:solidFill>
                <a:schemeClr val="tx1"/>
              </a:solidFill>
              <a:effectLst/>
              <a:latin typeface="+mn-lt"/>
              <a:ea typeface="+mn-ea"/>
              <a:cs typeface="+mn-cs"/>
            </a:endParaRPr>
          </a:p>
          <a:p>
            <a:pPr fontAlgn="base"/>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fstack</a:t>
            </a:r>
            <a:r>
              <a:rPr lang="en-US" sz="1200" kern="1200" dirty="0">
                <a:solidFill>
                  <a:schemeClr val="tx1"/>
                </a:solidFill>
                <a:effectLst/>
                <a:latin typeface="+mn-lt"/>
                <a:ea typeface="+mn-ea"/>
                <a:cs typeface="+mn-cs"/>
              </a:rPr>
              <a:t>-protector-</a:t>
            </a:r>
            <a:r>
              <a:rPr lang="en-US" sz="1200" kern="1200" dirty="0" err="1">
                <a:solidFill>
                  <a:schemeClr val="tx1"/>
                </a:solidFill>
                <a:effectLst/>
                <a:latin typeface="+mn-lt"/>
                <a:ea typeface="+mn-ea"/>
                <a:cs typeface="+mn-cs"/>
              </a:rPr>
              <a:t>strongThe</a:t>
            </a:r>
            <a:r>
              <a:rPr lang="en-US" sz="1200" kern="1200" dirty="0">
                <a:solidFill>
                  <a:schemeClr val="tx1"/>
                </a:solidFill>
                <a:effectLst/>
                <a:latin typeface="+mn-lt"/>
                <a:ea typeface="+mn-ea"/>
                <a:cs typeface="+mn-cs"/>
              </a:rPr>
              <a:t> compiler inserts a stack canary (a random guard value) between a function’s local variables and the saved return address. At function exit the canary is checked; if it has changed the program aborts (usually with __</a:t>
            </a:r>
            <a:r>
              <a:rPr lang="en-US" sz="1200" kern="1200" dirty="0" err="1">
                <a:solidFill>
                  <a:schemeClr val="tx1"/>
                </a:solidFill>
                <a:effectLst/>
                <a:latin typeface="+mn-lt"/>
                <a:ea typeface="+mn-ea"/>
                <a:cs typeface="+mn-cs"/>
              </a:rPr>
              <a:t>stack_chk_fail</a:t>
            </a:r>
            <a:r>
              <a:rPr lang="en-US" sz="1200" kern="1200" dirty="0">
                <a:solidFill>
                  <a:schemeClr val="tx1"/>
                </a:solidFill>
                <a:effectLst/>
                <a:latin typeface="+mn-lt"/>
                <a:ea typeface="+mn-ea"/>
                <a:cs typeface="+mn-cs"/>
              </a:rPr>
              <a:t>).Overwrites of local buffers (e.g., a </a:t>
            </a:r>
            <a:r>
              <a:rPr lang="en-US" sz="1200" kern="1200" dirty="0" err="1">
                <a:solidFill>
                  <a:schemeClr val="tx1"/>
                </a:solidFill>
                <a:effectLst/>
                <a:latin typeface="+mn-lt"/>
                <a:ea typeface="+mn-ea"/>
                <a:cs typeface="+mn-cs"/>
              </a:rPr>
              <a:t>strcpy</a:t>
            </a:r>
            <a:r>
              <a:rPr lang="en-US" sz="1200" kern="1200" dirty="0">
                <a:solidFill>
                  <a:schemeClr val="tx1"/>
                </a:solidFill>
                <a:effectLst/>
                <a:latin typeface="+mn-lt"/>
                <a:ea typeface="+mn-ea"/>
                <a:cs typeface="+mn-cs"/>
              </a:rPr>
              <a:t> overflow) will also overwrite the canary. The mismatch is detected before the corrupted return address is used, preventing classic control‑flow hijacks.</a:t>
            </a:r>
          </a:p>
          <a:p>
            <a:pPr fontAlgn="base"/>
            <a:endParaRPr lang="en-US" sz="1200" kern="1200" dirty="0">
              <a:solidFill>
                <a:schemeClr val="tx1"/>
              </a:solidFill>
              <a:effectLst/>
              <a:latin typeface="+mn-lt"/>
              <a:ea typeface="+mn-ea"/>
              <a:cs typeface="+mn-cs"/>
            </a:endParaRPr>
          </a:p>
          <a:p>
            <a:pPr fontAlgn="base"/>
            <a:r>
              <a:rPr lang="en-US" sz="1200" kern="1200" dirty="0">
                <a:solidFill>
                  <a:schemeClr val="tx1"/>
                </a:solidFill>
                <a:effectLst/>
                <a:latin typeface="+mn-lt"/>
                <a:ea typeface="+mn-ea"/>
                <a:cs typeface="+mn-cs"/>
              </a:rPr>
              <a:t>-D_FORTIFY_SOURCE=2This macro activates additional runtime checks for a set of </a:t>
            </a:r>
            <a:r>
              <a:rPr lang="en-US" sz="1200" kern="1200" dirty="0" err="1">
                <a:solidFill>
                  <a:schemeClr val="tx1"/>
                </a:solidFill>
                <a:effectLst/>
                <a:latin typeface="+mn-lt"/>
                <a:ea typeface="+mn-ea"/>
                <a:cs typeface="+mn-cs"/>
              </a:rPr>
              <a:t>libc</a:t>
            </a:r>
            <a:r>
              <a:rPr lang="en-US" sz="1200" kern="1200" dirty="0">
                <a:solidFill>
                  <a:schemeClr val="tx1"/>
                </a:solidFill>
                <a:effectLst/>
                <a:latin typeface="+mn-lt"/>
                <a:ea typeface="+mn-ea"/>
                <a:cs typeface="+mn-cs"/>
              </a:rPr>
              <a:t> functions that deal with buffers (</a:t>
            </a:r>
            <a:r>
              <a:rPr lang="en-US" sz="1200" kern="1200" dirty="0" err="1">
                <a:solidFill>
                  <a:schemeClr val="tx1"/>
                </a:solidFill>
                <a:effectLst/>
                <a:latin typeface="+mn-lt"/>
                <a:ea typeface="+mn-ea"/>
                <a:cs typeface="+mn-cs"/>
              </a:rPr>
              <a:t>strcpy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strncpy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memcpy</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sprintf</a:t>
            </a:r>
            <a:r>
              <a:rPr lang="en-US" sz="1200" kern="1200" dirty="0">
                <a:solidFill>
                  <a:schemeClr val="tx1"/>
                </a:solidFill>
                <a:effectLst/>
                <a:latin typeface="+mn-lt"/>
                <a:ea typeface="+mn-ea"/>
                <a:cs typeface="+mn-cs"/>
              </a:rPr>
              <a:t>, etc.). When the compiler can determine the size of the destination at compile time, it replaces the call with a built‑in version that validates the length and aborts on overflow. Level 2 applies the checks even when only partial size information is </a:t>
            </a:r>
            <a:r>
              <a:rPr lang="en-US" sz="1200" kern="1200" dirty="0" err="1">
                <a:solidFill>
                  <a:schemeClr val="tx1"/>
                </a:solidFill>
                <a:effectLst/>
                <a:latin typeface="+mn-lt"/>
                <a:ea typeface="+mn-ea"/>
                <a:cs typeface="+mn-cs"/>
              </a:rPr>
              <a:t>available.It</a:t>
            </a:r>
            <a:r>
              <a:rPr lang="en-US" sz="1200" kern="1200" dirty="0">
                <a:solidFill>
                  <a:schemeClr val="tx1"/>
                </a:solidFill>
                <a:effectLst/>
                <a:latin typeface="+mn-lt"/>
                <a:ea typeface="+mn-ea"/>
                <a:cs typeface="+mn-cs"/>
              </a:rPr>
              <a:t> catches many obvious overflows </a:t>
            </a:r>
            <a:r>
              <a:rPr lang="en-US" sz="1200" i="1" kern="1200" dirty="0">
                <a:solidFill>
                  <a:schemeClr val="tx1"/>
                </a:solidFill>
                <a:effectLst/>
                <a:latin typeface="+mn-lt"/>
                <a:ea typeface="+mn-ea"/>
                <a:cs typeface="+mn-cs"/>
              </a:rPr>
              <a:t>before</a:t>
            </a:r>
            <a:r>
              <a:rPr lang="en-US" sz="1200" kern="1200" dirty="0">
                <a:solidFill>
                  <a:schemeClr val="tx1"/>
                </a:solidFill>
                <a:effectLst/>
                <a:latin typeface="+mn-lt"/>
                <a:ea typeface="+mn-ea"/>
                <a:cs typeface="+mn-cs"/>
              </a:rPr>
              <a:t> they reach the vulnerable library routine, turning a silent memory corruption into an immediate abort.</a:t>
            </a:r>
          </a:p>
          <a:p>
            <a:pPr fontAlgn="base"/>
            <a:endParaRPr lang="en-US" sz="1200" kern="1200" dirty="0">
              <a:solidFill>
                <a:schemeClr val="tx1"/>
              </a:solidFill>
              <a:effectLst/>
              <a:latin typeface="+mn-lt"/>
              <a:ea typeface="+mn-ea"/>
              <a:cs typeface="+mn-cs"/>
            </a:endParaRPr>
          </a:p>
          <a:p>
            <a:pPr fontAlgn="base"/>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pieBuilds</a:t>
            </a:r>
            <a:r>
              <a:rPr lang="en-US" sz="1200" kern="1200" dirty="0">
                <a:solidFill>
                  <a:schemeClr val="tx1"/>
                </a:solidFill>
                <a:effectLst/>
                <a:latin typeface="+mn-lt"/>
                <a:ea typeface="+mn-ea"/>
                <a:cs typeface="+mn-cs"/>
              </a:rPr>
              <a:t> the executable as a Position‑Independent Executable. All code addresses are calculated relative to a load address that the loader chooses at </a:t>
            </a:r>
            <a:r>
              <a:rPr lang="en-US" sz="1200" kern="1200" dirty="0" err="1">
                <a:solidFill>
                  <a:schemeClr val="tx1"/>
                </a:solidFill>
                <a:effectLst/>
                <a:latin typeface="+mn-lt"/>
                <a:ea typeface="+mn-ea"/>
                <a:cs typeface="+mn-cs"/>
              </a:rPr>
              <a:t>runtime.An</a:t>
            </a:r>
            <a:r>
              <a:rPr lang="en-US" sz="1200" kern="1200" dirty="0">
                <a:solidFill>
                  <a:schemeClr val="tx1"/>
                </a:solidFill>
                <a:effectLst/>
                <a:latin typeface="+mn-lt"/>
                <a:ea typeface="+mn-ea"/>
                <a:cs typeface="+mn-cs"/>
              </a:rPr>
              <a:t> attacker can’t rely on fixed addresses for gadgets or function pointers, because the base address changes each execution (ASLR).</a:t>
            </a:r>
          </a:p>
          <a:p>
            <a:pPr fontAlgn="base"/>
            <a:endParaRPr lang="en-US" sz="1200" kern="1200" dirty="0">
              <a:solidFill>
                <a:schemeClr val="tx1"/>
              </a:solidFill>
              <a:effectLst/>
              <a:latin typeface="+mn-lt"/>
              <a:ea typeface="+mn-ea"/>
              <a:cs typeface="+mn-cs"/>
            </a:endParaRPr>
          </a:p>
          <a:p>
            <a:pPr fontAlgn="base"/>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Wl</a:t>
            </a:r>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z,relro</a:t>
            </a:r>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z,now</a:t>
            </a:r>
            <a:r>
              <a:rPr lang="en-US" sz="1200" kern="1200" dirty="0">
                <a:solidFill>
                  <a:schemeClr val="tx1"/>
                </a:solidFill>
                <a:effectLst/>
                <a:latin typeface="+mn-lt"/>
                <a:ea typeface="+mn-ea"/>
                <a:cs typeface="+mn-cs"/>
              </a:rPr>
              <a:t> (passed to the linker)RELRO = </a:t>
            </a:r>
            <a:r>
              <a:rPr lang="en-US" sz="1200" i="1" kern="1200" dirty="0">
                <a:solidFill>
                  <a:schemeClr val="tx1"/>
                </a:solidFill>
                <a:effectLst/>
                <a:latin typeface="+mn-lt"/>
                <a:ea typeface="+mn-ea"/>
                <a:cs typeface="+mn-cs"/>
              </a:rPr>
              <a:t>Read‑Only Relocations</a:t>
            </a:r>
            <a:r>
              <a:rPr lang="en-US" sz="1200" kern="1200" dirty="0">
                <a:solidFill>
                  <a:schemeClr val="tx1"/>
                </a:solidFill>
                <a:effectLst/>
                <a:latin typeface="+mn-lt"/>
                <a:ea typeface="+mn-ea"/>
                <a:cs typeface="+mn-cs"/>
              </a:rPr>
              <a:t>. </a:t>
            </a:r>
          </a:p>
          <a:p>
            <a:pPr fontAlgn="base"/>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z,relro</a:t>
            </a:r>
            <a:r>
              <a:rPr lang="en-US" sz="1200" kern="1200" dirty="0">
                <a:solidFill>
                  <a:schemeClr val="tx1"/>
                </a:solidFill>
                <a:effectLst/>
                <a:latin typeface="+mn-lt"/>
                <a:ea typeface="+mn-ea"/>
                <a:cs typeface="+mn-cs"/>
              </a:rPr>
              <a:t> makes the Global Offset Table (GOT) and other relocation sections read‑only after the dynamic loader resolves them.</a:t>
            </a:r>
          </a:p>
          <a:p>
            <a:pPr fontAlgn="base"/>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z,now</a:t>
            </a:r>
            <a:r>
              <a:rPr lang="en-US" sz="1200" kern="1200" dirty="0">
                <a:solidFill>
                  <a:schemeClr val="tx1"/>
                </a:solidFill>
                <a:effectLst/>
                <a:latin typeface="+mn-lt"/>
                <a:ea typeface="+mn-ea"/>
                <a:cs typeface="+mn-cs"/>
              </a:rPr>
              <a:t> forces </a:t>
            </a:r>
            <a:r>
              <a:rPr lang="en-US" sz="1200" i="1" kern="1200" dirty="0">
                <a:solidFill>
                  <a:schemeClr val="tx1"/>
                </a:solidFill>
                <a:effectLst/>
                <a:latin typeface="+mn-lt"/>
                <a:ea typeface="+mn-ea"/>
                <a:cs typeface="+mn-cs"/>
              </a:rPr>
              <a:t>immediate</a:t>
            </a:r>
            <a:r>
              <a:rPr lang="en-US" sz="1200" kern="1200" dirty="0">
                <a:solidFill>
                  <a:schemeClr val="tx1"/>
                </a:solidFill>
                <a:effectLst/>
                <a:latin typeface="+mn-lt"/>
                <a:ea typeface="+mn-ea"/>
                <a:cs typeface="+mn-cs"/>
              </a:rPr>
              <a:t> resolution of all PLT/GOT entries rather than lazy (on‑first‑use) </a:t>
            </a:r>
            <a:r>
              <a:rPr lang="en-US" sz="1200" kern="1200" dirty="0" err="1">
                <a:solidFill>
                  <a:schemeClr val="tx1"/>
                </a:solidFill>
                <a:effectLst/>
                <a:latin typeface="+mn-lt"/>
                <a:ea typeface="+mn-ea"/>
                <a:cs typeface="+mn-cs"/>
              </a:rPr>
              <a:t>binding.A</a:t>
            </a:r>
            <a:r>
              <a:rPr lang="en-US" sz="1200" kern="1200" dirty="0">
                <a:solidFill>
                  <a:schemeClr val="tx1"/>
                </a:solidFill>
                <a:effectLst/>
                <a:latin typeface="+mn-lt"/>
                <a:ea typeface="+mn-ea"/>
                <a:cs typeface="+mn-cs"/>
              </a:rPr>
              <a:t> GOT overwrite—a classic technique to redirect control flow to attacker‑controlled code—fails because the GOT pages are marked read‑only before the program ever runs. Immediate binding also removes the window where an attacker could race to overwrite a lazy‑resolved entry.</a:t>
            </a:r>
          </a:p>
          <a:p>
            <a:endParaRPr lang="en-US" dirty="0"/>
          </a:p>
        </p:txBody>
      </p:sp>
      <p:sp>
        <p:nvSpPr>
          <p:cNvPr id="4" name="Slide Number Placeholder 3"/>
          <p:cNvSpPr>
            <a:spLocks noGrp="1"/>
          </p:cNvSpPr>
          <p:nvPr>
            <p:ph type="sldNum" sz="quarter" idx="5"/>
          </p:nvPr>
        </p:nvSpPr>
        <p:spPr/>
        <p:txBody>
          <a:bodyPr/>
          <a:lstStyle/>
          <a:p>
            <a:fld id="{335B839A-3CCD-7649-B165-B531E0BAB40A}" type="slidenum">
              <a:rPr lang="en-US" smtClean="0"/>
              <a:t>19</a:t>
            </a:fld>
            <a:endParaRPr lang="en-US"/>
          </a:p>
        </p:txBody>
      </p:sp>
    </p:spTree>
    <p:extLst>
      <p:ext uri="{BB962C8B-B14F-4D97-AF65-F5344CB8AC3E}">
        <p14:creationId xmlns:p14="http://schemas.microsoft.com/office/powerpoint/2010/main" val="4134647344"/>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pic>
        <p:nvPicPr>
          <p:cNvPr id="66" name="Picture 2" descr="\\DROBO-FS\QuickDrops\JB\PPTX NG\Droplets\LightingOverlay.png"/>
          <p:cNvPicPr>
            <a:picLocks noChangeAspect="1" noChangeArrowheads="1"/>
          </p:cNvPicPr>
          <p:nvPr/>
        </p:nvPicPr>
        <p:blipFill>
          <a:blip r:embed="rId2">
            <a:alphaModFix amt="30000"/>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a14="http://schemas.microsoft.com/office/drawing/2010/main" xmlns="">
                <a:solidFill>
                  <a:srgbClr val="FFFFFF"/>
                </a:solidFill>
              </a14:hiddenFill>
            </a:ext>
          </a:extLst>
        </p:spPr>
      </p:pic>
      <p:grpSp>
        <p:nvGrpSpPr>
          <p:cNvPr id="11" name="Group 10"/>
          <p:cNvGrpSpPr/>
          <p:nvPr/>
        </p:nvGrpSpPr>
        <p:grpSpPr>
          <a:xfrm>
            <a:off x="0" y="0"/>
            <a:ext cx="2305051" cy="6858001"/>
            <a:chOff x="0" y="0"/>
            <a:chExt cx="2305051" cy="6858001"/>
          </a:xfrm>
          <a:gradFill flip="none" rotWithShape="1">
            <a:gsLst>
              <a:gs pos="0">
                <a:schemeClr val="tx2"/>
              </a:gs>
              <a:gs pos="100000">
                <a:schemeClr val="bg2">
                  <a:lumMod val="60000"/>
                  <a:lumOff val="40000"/>
                </a:schemeClr>
              </a:gs>
            </a:gsLst>
            <a:lin ang="5400000" scaled="0"/>
            <a:tileRect/>
          </a:gradFill>
        </p:grpSpPr>
        <p:sp>
          <p:nvSpPr>
            <p:cNvPr id="12" name="Rectangle 5"/>
            <p:cNvSpPr>
              <a:spLocks noChangeArrowheads="1"/>
            </p:cNvSpPr>
            <p:nvPr/>
          </p:nvSpPr>
          <p:spPr bwMode="auto">
            <a:xfrm>
              <a:off x="1209675" y="4763"/>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13" name="Freeform 6"/>
            <p:cNvSpPr>
              <a:spLocks noEditPoints="1"/>
            </p:cNvSpPr>
            <p:nvPr/>
          </p:nvSpPr>
          <p:spPr bwMode="auto">
            <a:xfrm>
              <a:off x="1128713"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4" name="Freeform 7"/>
            <p:cNvSpPr>
              <a:spLocks noEditPoints="1"/>
            </p:cNvSpPr>
            <p:nvPr/>
          </p:nvSpPr>
          <p:spPr bwMode="auto">
            <a:xfrm>
              <a:off x="1123950"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5" name="Rectangle 8"/>
            <p:cNvSpPr>
              <a:spLocks noChangeArrowheads="1"/>
            </p:cNvSpPr>
            <p:nvPr/>
          </p:nvSpPr>
          <p:spPr bwMode="auto">
            <a:xfrm>
              <a:off x="414338" y="9525"/>
              <a:ext cx="28575" cy="4481513"/>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16" name="Freeform 9"/>
            <p:cNvSpPr>
              <a:spLocks noEditPoints="1"/>
            </p:cNvSpPr>
            <p:nvPr/>
          </p:nvSpPr>
          <p:spPr bwMode="auto">
            <a:xfrm>
              <a:off x="333375"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7" name="Freeform 10"/>
            <p:cNvSpPr/>
            <p:nvPr/>
          </p:nvSpPr>
          <p:spPr bwMode="auto">
            <a:xfrm>
              <a:off x="190500" y="9525"/>
              <a:ext cx="152400" cy="908050"/>
            </a:xfrm>
            <a:custGeom>
              <a:avLst/>
              <a:gdLst/>
              <a:ahLst/>
              <a:cxnLst/>
              <a:rect l="0" t="0" r="r" b="b"/>
              <a:pathLst>
                <a:path w="96" h="572">
                  <a:moveTo>
                    <a:pt x="15" y="572"/>
                  </a:moveTo>
                  <a:lnTo>
                    <a:pt x="0" y="566"/>
                  </a:lnTo>
                  <a:lnTo>
                    <a:pt x="81" y="380"/>
                  </a:lnTo>
                  <a:lnTo>
                    <a:pt x="81" y="0"/>
                  </a:lnTo>
                  <a:lnTo>
                    <a:pt x="96" y="0"/>
                  </a:lnTo>
                  <a:lnTo>
                    <a:pt x="96" y="383"/>
                  </a:lnTo>
                  <a:lnTo>
                    <a:pt x="15" y="57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8" name="Freeform 11"/>
            <p:cNvSpPr/>
            <p:nvPr/>
          </p:nvSpPr>
          <p:spPr bwMode="auto">
            <a:xfrm>
              <a:off x="1290638" y="14288"/>
              <a:ext cx="376238" cy="1801813"/>
            </a:xfrm>
            <a:custGeom>
              <a:avLst/>
              <a:gdLst/>
              <a:ahLst/>
              <a:cxnLst/>
              <a:rect l="0" t="0" r="r" b="b"/>
              <a:pathLst>
                <a:path w="237" h="1135">
                  <a:moveTo>
                    <a:pt x="222" y="1135"/>
                  </a:moveTo>
                  <a:lnTo>
                    <a:pt x="0" y="620"/>
                  </a:lnTo>
                  <a:lnTo>
                    <a:pt x="0" y="0"/>
                  </a:lnTo>
                  <a:lnTo>
                    <a:pt x="18" y="0"/>
                  </a:lnTo>
                  <a:lnTo>
                    <a:pt x="18" y="617"/>
                  </a:lnTo>
                  <a:lnTo>
                    <a:pt x="237" y="1129"/>
                  </a:lnTo>
                  <a:lnTo>
                    <a:pt x="222"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9" name="Freeform 12"/>
            <p:cNvSpPr>
              <a:spLocks noEditPoints="1"/>
            </p:cNvSpPr>
            <p:nvPr/>
          </p:nvSpPr>
          <p:spPr bwMode="auto">
            <a:xfrm>
              <a:off x="1600200" y="180181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0" name="Freeform 13"/>
            <p:cNvSpPr/>
            <p:nvPr/>
          </p:nvSpPr>
          <p:spPr bwMode="auto">
            <a:xfrm>
              <a:off x="1381125" y="9525"/>
              <a:ext cx="371475" cy="1425575"/>
            </a:xfrm>
            <a:custGeom>
              <a:avLst/>
              <a:gdLst/>
              <a:ahLst/>
              <a:cxnLst/>
              <a:rect l="0" t="0" r="r" b="b"/>
              <a:pathLst>
                <a:path w="234" h="898">
                  <a:moveTo>
                    <a:pt x="219" y="898"/>
                  </a:moveTo>
                  <a:lnTo>
                    <a:pt x="0" y="383"/>
                  </a:lnTo>
                  <a:lnTo>
                    <a:pt x="0" y="0"/>
                  </a:lnTo>
                  <a:lnTo>
                    <a:pt x="15" y="0"/>
                  </a:lnTo>
                  <a:lnTo>
                    <a:pt x="15" y="380"/>
                  </a:lnTo>
                  <a:lnTo>
                    <a:pt x="234" y="892"/>
                  </a:lnTo>
                  <a:lnTo>
                    <a:pt x="219" y="89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1" name="Freeform 14"/>
            <p:cNvSpPr/>
            <p:nvPr/>
          </p:nvSpPr>
          <p:spPr bwMode="auto">
            <a:xfrm>
              <a:off x="1643063"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2" name="Freeform 15"/>
            <p:cNvSpPr>
              <a:spLocks noEditPoints="1"/>
            </p:cNvSpPr>
            <p:nvPr/>
          </p:nvSpPr>
          <p:spPr bwMode="auto">
            <a:xfrm>
              <a:off x="1685925" y="14208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3" name="Freeform 16"/>
            <p:cNvSpPr>
              <a:spLocks noEditPoints="1"/>
            </p:cNvSpPr>
            <p:nvPr/>
          </p:nvSpPr>
          <p:spPr bwMode="auto">
            <a:xfrm>
              <a:off x="168592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4" name="Freeform 17"/>
            <p:cNvSpPr/>
            <p:nvPr/>
          </p:nvSpPr>
          <p:spPr bwMode="auto">
            <a:xfrm>
              <a:off x="1743075" y="4763"/>
              <a:ext cx="419100" cy="522288"/>
            </a:xfrm>
            <a:custGeom>
              <a:avLst/>
              <a:gdLst/>
              <a:ahLst/>
              <a:cxnLst/>
              <a:rect l="0" t="0" r="r" b="b"/>
              <a:pathLst>
                <a:path w="264" h="329">
                  <a:moveTo>
                    <a:pt x="252" y="329"/>
                  </a:moveTo>
                  <a:lnTo>
                    <a:pt x="45" y="120"/>
                  </a:lnTo>
                  <a:lnTo>
                    <a:pt x="0" y="6"/>
                  </a:lnTo>
                  <a:lnTo>
                    <a:pt x="15" y="0"/>
                  </a:lnTo>
                  <a:lnTo>
                    <a:pt x="60" y="111"/>
                  </a:lnTo>
                  <a:lnTo>
                    <a:pt x="264" y="317"/>
                  </a:lnTo>
                  <a:lnTo>
                    <a:pt x="252" y="329"/>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5" name="Freeform 18"/>
            <p:cNvSpPr>
              <a:spLocks noEditPoints="1"/>
            </p:cNvSpPr>
            <p:nvPr/>
          </p:nvSpPr>
          <p:spPr bwMode="auto">
            <a:xfrm>
              <a:off x="2119313"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6" name="Freeform 19"/>
            <p:cNvSpPr/>
            <p:nvPr/>
          </p:nvSpPr>
          <p:spPr bwMode="auto">
            <a:xfrm>
              <a:off x="952500" y="4763"/>
              <a:ext cx="152400" cy="908050"/>
            </a:xfrm>
            <a:custGeom>
              <a:avLst/>
              <a:gdLst/>
              <a:ahLst/>
              <a:cxnLst/>
              <a:rect l="0" t="0" r="r" b="b"/>
              <a:pathLst>
                <a:path w="96" h="572">
                  <a:moveTo>
                    <a:pt x="15" y="572"/>
                  </a:moveTo>
                  <a:lnTo>
                    <a:pt x="0" y="572"/>
                  </a:lnTo>
                  <a:lnTo>
                    <a:pt x="0" y="189"/>
                  </a:lnTo>
                  <a:lnTo>
                    <a:pt x="81" y="0"/>
                  </a:lnTo>
                  <a:lnTo>
                    <a:pt x="96" y="6"/>
                  </a:lnTo>
                  <a:lnTo>
                    <a:pt x="15" y="192"/>
                  </a:lnTo>
                  <a:lnTo>
                    <a:pt x="15" y="57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7" name="Freeform 20"/>
            <p:cNvSpPr>
              <a:spLocks noEditPoints="1"/>
            </p:cNvSpPr>
            <p:nvPr/>
          </p:nvSpPr>
          <p:spPr bwMode="auto">
            <a:xfrm>
              <a:off x="86677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2"/>
                    <a:pt x="4" y="20"/>
                  </a:cubicBezTo>
                  <a:cubicBezTo>
                    <a:pt x="4" y="29"/>
                    <a:pt x="11" y="36"/>
                    <a:pt x="20" y="36"/>
                  </a:cubicBezTo>
                  <a:cubicBezTo>
                    <a:pt x="29" y="36"/>
                    <a:pt x="36" y="29"/>
                    <a:pt x="36" y="20"/>
                  </a:cubicBezTo>
                  <a:cubicBezTo>
                    <a:pt x="36" y="12"/>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8" name="Freeform 21"/>
            <p:cNvSpPr>
              <a:spLocks noEditPoints="1"/>
            </p:cNvSpPr>
            <p:nvPr/>
          </p:nvSpPr>
          <p:spPr bwMode="auto">
            <a:xfrm>
              <a:off x="890588" y="15541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9" name="Freeform 22"/>
            <p:cNvSpPr/>
            <p:nvPr/>
          </p:nvSpPr>
          <p:spPr bwMode="auto">
            <a:xfrm>
              <a:off x="738188" y="5622925"/>
              <a:ext cx="338138" cy="1216025"/>
            </a:xfrm>
            <a:custGeom>
              <a:avLst/>
              <a:gdLst/>
              <a:ahLst/>
              <a:cxnLst/>
              <a:rect l="0" t="0" r="r" b="b"/>
              <a:pathLst>
                <a:path w="213" h="766">
                  <a:moveTo>
                    <a:pt x="213" y="766"/>
                  </a:moveTo>
                  <a:lnTo>
                    <a:pt x="195" y="766"/>
                  </a:lnTo>
                  <a:lnTo>
                    <a:pt x="195" y="464"/>
                  </a:lnTo>
                  <a:lnTo>
                    <a:pt x="0" y="6"/>
                  </a:lnTo>
                  <a:lnTo>
                    <a:pt x="12" y="0"/>
                  </a:lnTo>
                  <a:lnTo>
                    <a:pt x="213" y="461"/>
                  </a:lnTo>
                  <a:lnTo>
                    <a:pt x="213" y="76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0" name="Freeform 23"/>
            <p:cNvSpPr>
              <a:spLocks noEditPoints="1"/>
            </p:cNvSpPr>
            <p:nvPr/>
          </p:nvSpPr>
          <p:spPr bwMode="auto">
            <a:xfrm>
              <a:off x="647700" y="5480050"/>
              <a:ext cx="157163" cy="157163"/>
            </a:xfrm>
            <a:custGeom>
              <a:avLst/>
              <a:gdLst/>
              <a:ahLst/>
              <a:cxnLst/>
              <a:rect l="0" t="0" r="r" b="b"/>
              <a:pathLst>
                <a:path w="33" h="33">
                  <a:moveTo>
                    <a:pt x="17" y="33"/>
                  </a:moveTo>
                  <a:cubicBezTo>
                    <a:pt x="8" y="33"/>
                    <a:pt x="0" y="26"/>
                    <a:pt x="0" y="17"/>
                  </a:cubicBezTo>
                  <a:cubicBezTo>
                    <a:pt x="0" y="8"/>
                    <a:pt x="8" y="0"/>
                    <a:pt x="17" y="0"/>
                  </a:cubicBezTo>
                  <a:cubicBezTo>
                    <a:pt x="26" y="0"/>
                    <a:pt x="33" y="8"/>
                    <a:pt x="33" y="17"/>
                  </a:cubicBezTo>
                  <a:cubicBezTo>
                    <a:pt x="33" y="26"/>
                    <a:pt x="26" y="33"/>
                    <a:pt x="17" y="33"/>
                  </a:cubicBezTo>
                  <a:close/>
                  <a:moveTo>
                    <a:pt x="17" y="4"/>
                  </a:moveTo>
                  <a:cubicBezTo>
                    <a:pt x="10" y="4"/>
                    <a:pt x="4" y="10"/>
                    <a:pt x="4" y="17"/>
                  </a:cubicBezTo>
                  <a:cubicBezTo>
                    <a:pt x="4" y="24"/>
                    <a:pt x="10" y="29"/>
                    <a:pt x="17" y="29"/>
                  </a:cubicBezTo>
                  <a:cubicBezTo>
                    <a:pt x="23" y="29"/>
                    <a:pt x="29" y="24"/>
                    <a:pt x="29" y="17"/>
                  </a:cubicBezTo>
                  <a:cubicBezTo>
                    <a:pt x="29" y="10"/>
                    <a:pt x="23"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1" name="Freeform 24"/>
            <p:cNvSpPr>
              <a:spLocks noEditPoints="1"/>
            </p:cNvSpPr>
            <p:nvPr/>
          </p:nvSpPr>
          <p:spPr bwMode="auto">
            <a:xfrm>
              <a:off x="66675" y="903288"/>
              <a:ext cx="190500" cy="190500"/>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2"/>
                    <a:pt x="4" y="20"/>
                  </a:cubicBezTo>
                  <a:cubicBezTo>
                    <a:pt x="4" y="29"/>
                    <a:pt x="12" y="36"/>
                    <a:pt x="20" y="36"/>
                  </a:cubicBezTo>
                  <a:cubicBezTo>
                    <a:pt x="29" y="36"/>
                    <a:pt x="36" y="29"/>
                    <a:pt x="36" y="20"/>
                  </a:cubicBezTo>
                  <a:cubicBezTo>
                    <a:pt x="36" y="12"/>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2" name="Freeform 25"/>
            <p:cNvSpPr/>
            <p:nvPr/>
          </p:nvSpPr>
          <p:spPr bwMode="auto">
            <a:xfrm>
              <a:off x="0" y="3897313"/>
              <a:ext cx="133350" cy="266700"/>
            </a:xfrm>
            <a:custGeom>
              <a:avLst/>
              <a:gdLst/>
              <a:ahLst/>
              <a:cxnLst/>
              <a:rect l="0" t="0" r="r" b="b"/>
              <a:pathLst>
                <a:path w="84" h="168">
                  <a:moveTo>
                    <a:pt x="69" y="168"/>
                  </a:moveTo>
                  <a:lnTo>
                    <a:pt x="0" y="6"/>
                  </a:lnTo>
                  <a:lnTo>
                    <a:pt x="12" y="0"/>
                  </a:lnTo>
                  <a:lnTo>
                    <a:pt x="84" y="162"/>
                  </a:lnTo>
                  <a:lnTo>
                    <a:pt x="69" y="16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3" name="Freeform 26"/>
            <p:cNvSpPr>
              <a:spLocks noEditPoints="1"/>
            </p:cNvSpPr>
            <p:nvPr/>
          </p:nvSpPr>
          <p:spPr bwMode="auto">
            <a:xfrm>
              <a:off x="66675" y="414972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4" name="Freeform 27"/>
            <p:cNvSpPr/>
            <p:nvPr/>
          </p:nvSpPr>
          <p:spPr bwMode="auto">
            <a:xfrm>
              <a:off x="0" y="1644650"/>
              <a:ext cx="133350" cy="269875"/>
            </a:xfrm>
            <a:custGeom>
              <a:avLst/>
              <a:gdLst/>
              <a:ahLst/>
              <a:cxnLst/>
              <a:rect l="0" t="0" r="r" b="b"/>
              <a:pathLst>
                <a:path w="84" h="170">
                  <a:moveTo>
                    <a:pt x="12" y="170"/>
                  </a:moveTo>
                  <a:lnTo>
                    <a:pt x="0" y="164"/>
                  </a:lnTo>
                  <a:lnTo>
                    <a:pt x="69" y="0"/>
                  </a:lnTo>
                  <a:lnTo>
                    <a:pt x="84" y="6"/>
                  </a:lnTo>
                  <a:lnTo>
                    <a:pt x="12" y="17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5" name="Freeform 28"/>
            <p:cNvSpPr>
              <a:spLocks noEditPoints="1"/>
            </p:cNvSpPr>
            <p:nvPr/>
          </p:nvSpPr>
          <p:spPr bwMode="auto">
            <a:xfrm>
              <a:off x="66675" y="146843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6" name="Freeform 29"/>
            <p:cNvSpPr/>
            <p:nvPr/>
          </p:nvSpPr>
          <p:spPr bwMode="auto">
            <a:xfrm>
              <a:off x="695325" y="4763"/>
              <a:ext cx="309563" cy="1558925"/>
            </a:xfrm>
            <a:custGeom>
              <a:avLst/>
              <a:gdLst/>
              <a:ahLst/>
              <a:cxnLst/>
              <a:rect l="0" t="0" r="r" b="b"/>
              <a:pathLst>
                <a:path w="195" h="982">
                  <a:moveTo>
                    <a:pt x="195" y="982"/>
                  </a:moveTo>
                  <a:lnTo>
                    <a:pt x="177" y="982"/>
                  </a:lnTo>
                  <a:lnTo>
                    <a:pt x="177" y="805"/>
                  </a:lnTo>
                  <a:lnTo>
                    <a:pt x="0" y="629"/>
                  </a:lnTo>
                  <a:lnTo>
                    <a:pt x="0" y="0"/>
                  </a:lnTo>
                  <a:lnTo>
                    <a:pt x="18" y="0"/>
                  </a:lnTo>
                  <a:lnTo>
                    <a:pt x="18" y="623"/>
                  </a:lnTo>
                  <a:lnTo>
                    <a:pt x="195" y="796"/>
                  </a:lnTo>
                  <a:lnTo>
                    <a:pt x="195" y="98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7" name="Freeform 30"/>
            <p:cNvSpPr>
              <a:spLocks noEditPoints="1"/>
            </p:cNvSpPr>
            <p:nvPr/>
          </p:nvSpPr>
          <p:spPr bwMode="auto">
            <a:xfrm>
              <a:off x="57150" y="48815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8" name="Freeform 31"/>
            <p:cNvSpPr/>
            <p:nvPr/>
          </p:nvSpPr>
          <p:spPr bwMode="auto">
            <a:xfrm>
              <a:off x="138113" y="5060950"/>
              <a:ext cx="304800" cy="1778000"/>
            </a:xfrm>
            <a:custGeom>
              <a:avLst/>
              <a:gdLst/>
              <a:ahLst/>
              <a:cxnLst/>
              <a:rect l="0" t="0" r="r" b="b"/>
              <a:pathLst>
                <a:path w="192" h="1120">
                  <a:moveTo>
                    <a:pt x="192" y="1120"/>
                  </a:moveTo>
                  <a:lnTo>
                    <a:pt x="177" y="1120"/>
                  </a:lnTo>
                  <a:lnTo>
                    <a:pt x="177" y="360"/>
                  </a:lnTo>
                  <a:lnTo>
                    <a:pt x="0" y="183"/>
                  </a:lnTo>
                  <a:lnTo>
                    <a:pt x="0" y="0"/>
                  </a:lnTo>
                  <a:lnTo>
                    <a:pt x="15" y="0"/>
                  </a:lnTo>
                  <a:lnTo>
                    <a:pt x="15" y="177"/>
                  </a:lnTo>
                  <a:lnTo>
                    <a:pt x="192" y="354"/>
                  </a:lnTo>
                  <a:lnTo>
                    <a:pt x="192" y="112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9" name="Freeform 32"/>
            <p:cNvSpPr>
              <a:spLocks noEditPoints="1"/>
            </p:cNvSpPr>
            <p:nvPr/>
          </p:nvSpPr>
          <p:spPr bwMode="auto">
            <a:xfrm>
              <a:off x="561975" y="64309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0" name="Rectangle 33"/>
            <p:cNvSpPr>
              <a:spLocks noChangeArrowheads="1"/>
            </p:cNvSpPr>
            <p:nvPr/>
          </p:nvSpPr>
          <p:spPr bwMode="auto">
            <a:xfrm>
              <a:off x="642938" y="6610350"/>
              <a:ext cx="23813" cy="242888"/>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41" name="Freeform 34"/>
            <p:cNvSpPr>
              <a:spLocks noEditPoints="1"/>
            </p:cNvSpPr>
            <p:nvPr/>
          </p:nvSpPr>
          <p:spPr bwMode="auto">
            <a:xfrm>
              <a:off x="76200" y="6430963"/>
              <a:ext cx="190500" cy="188913"/>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2" name="Freeform 35"/>
            <p:cNvSpPr/>
            <p:nvPr/>
          </p:nvSpPr>
          <p:spPr bwMode="auto">
            <a:xfrm>
              <a:off x="0" y="5978525"/>
              <a:ext cx="190500" cy="461963"/>
            </a:xfrm>
            <a:custGeom>
              <a:avLst/>
              <a:gdLst/>
              <a:ahLst/>
              <a:cxnLst/>
              <a:rect l="0" t="0" r="r" b="b"/>
              <a:pathLst>
                <a:path w="120" h="291">
                  <a:moveTo>
                    <a:pt x="120" y="291"/>
                  </a:moveTo>
                  <a:lnTo>
                    <a:pt x="105" y="291"/>
                  </a:lnTo>
                  <a:lnTo>
                    <a:pt x="105" y="114"/>
                  </a:lnTo>
                  <a:lnTo>
                    <a:pt x="0" y="9"/>
                  </a:lnTo>
                  <a:lnTo>
                    <a:pt x="12" y="0"/>
                  </a:lnTo>
                  <a:lnTo>
                    <a:pt x="120" y="108"/>
                  </a:lnTo>
                  <a:lnTo>
                    <a:pt x="120" y="291"/>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3" name="Freeform 36"/>
            <p:cNvSpPr/>
            <p:nvPr/>
          </p:nvSpPr>
          <p:spPr bwMode="auto">
            <a:xfrm>
              <a:off x="1014413" y="1801813"/>
              <a:ext cx="214313" cy="755650"/>
            </a:xfrm>
            <a:custGeom>
              <a:avLst/>
              <a:gdLst/>
              <a:ahLst/>
              <a:cxnLst/>
              <a:rect l="0" t="0" r="r" b="b"/>
              <a:pathLst>
                <a:path w="135" h="476">
                  <a:moveTo>
                    <a:pt x="12" y="476"/>
                  </a:moveTo>
                  <a:lnTo>
                    <a:pt x="0" y="476"/>
                  </a:lnTo>
                  <a:lnTo>
                    <a:pt x="0" y="128"/>
                  </a:lnTo>
                  <a:lnTo>
                    <a:pt x="126" y="0"/>
                  </a:lnTo>
                  <a:lnTo>
                    <a:pt x="135" y="9"/>
                  </a:lnTo>
                  <a:lnTo>
                    <a:pt x="12" y="131"/>
                  </a:lnTo>
                  <a:lnTo>
                    <a:pt x="12" y="47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4" name="Freeform 37"/>
            <p:cNvSpPr>
              <a:spLocks noEditPoints="1"/>
            </p:cNvSpPr>
            <p:nvPr/>
          </p:nvSpPr>
          <p:spPr bwMode="auto">
            <a:xfrm>
              <a:off x="938213" y="2547938"/>
              <a:ext cx="166688" cy="160338"/>
            </a:xfrm>
            <a:custGeom>
              <a:avLst/>
              <a:gdLst/>
              <a:ahLst/>
              <a:cxnLst/>
              <a:rect l="0" t="0" r="r" b="b"/>
              <a:pathLst>
                <a:path w="35" h="34">
                  <a:moveTo>
                    <a:pt x="18" y="34"/>
                  </a:moveTo>
                  <a:cubicBezTo>
                    <a:pt x="8" y="34"/>
                    <a:pt x="0" y="26"/>
                    <a:pt x="0" y="17"/>
                  </a:cubicBezTo>
                  <a:cubicBezTo>
                    <a:pt x="0" y="7"/>
                    <a:pt x="8" y="0"/>
                    <a:pt x="18" y="0"/>
                  </a:cubicBezTo>
                  <a:cubicBezTo>
                    <a:pt x="27" y="0"/>
                    <a:pt x="35" y="7"/>
                    <a:pt x="35" y="17"/>
                  </a:cubicBezTo>
                  <a:cubicBezTo>
                    <a:pt x="35" y="26"/>
                    <a:pt x="27" y="34"/>
                    <a:pt x="18" y="34"/>
                  </a:cubicBezTo>
                  <a:close/>
                  <a:moveTo>
                    <a:pt x="18" y="4"/>
                  </a:moveTo>
                  <a:cubicBezTo>
                    <a:pt x="10" y="4"/>
                    <a:pt x="4" y="10"/>
                    <a:pt x="4" y="17"/>
                  </a:cubicBezTo>
                  <a:cubicBezTo>
                    <a:pt x="4" y="24"/>
                    <a:pt x="10" y="30"/>
                    <a:pt x="18" y="30"/>
                  </a:cubicBezTo>
                  <a:cubicBezTo>
                    <a:pt x="25" y="30"/>
                    <a:pt x="31" y="24"/>
                    <a:pt x="31" y="17"/>
                  </a:cubicBezTo>
                  <a:cubicBezTo>
                    <a:pt x="31" y="10"/>
                    <a:pt x="25" y="4"/>
                    <a:pt x="18"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5" name="Freeform 38"/>
            <p:cNvSpPr/>
            <p:nvPr/>
          </p:nvSpPr>
          <p:spPr bwMode="auto">
            <a:xfrm>
              <a:off x="595313" y="4763"/>
              <a:ext cx="638175" cy="4025900"/>
            </a:xfrm>
            <a:custGeom>
              <a:avLst/>
              <a:gdLst/>
              <a:ahLst/>
              <a:cxnLst/>
              <a:rect l="0" t="0" r="r" b="b"/>
              <a:pathLst>
                <a:path w="402" h="2536">
                  <a:moveTo>
                    <a:pt x="402" y="2536"/>
                  </a:moveTo>
                  <a:lnTo>
                    <a:pt x="387" y="2536"/>
                  </a:lnTo>
                  <a:lnTo>
                    <a:pt x="387" y="2311"/>
                  </a:lnTo>
                  <a:lnTo>
                    <a:pt x="0" y="1925"/>
                  </a:lnTo>
                  <a:lnTo>
                    <a:pt x="0" y="0"/>
                  </a:lnTo>
                  <a:lnTo>
                    <a:pt x="15" y="0"/>
                  </a:lnTo>
                  <a:lnTo>
                    <a:pt x="15" y="1916"/>
                  </a:lnTo>
                  <a:lnTo>
                    <a:pt x="402" y="2302"/>
                  </a:lnTo>
                  <a:lnTo>
                    <a:pt x="402" y="253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6" name="Freeform 39"/>
            <p:cNvSpPr/>
            <p:nvPr/>
          </p:nvSpPr>
          <p:spPr bwMode="auto">
            <a:xfrm>
              <a:off x="1223963"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7" name="Freeform 40"/>
            <p:cNvSpPr>
              <a:spLocks noEditPoints="1"/>
            </p:cNvSpPr>
            <p:nvPr/>
          </p:nvSpPr>
          <p:spPr bwMode="auto">
            <a:xfrm>
              <a:off x="1300163" y="1849438"/>
              <a:ext cx="109538" cy="107950"/>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8" name="Freeform 41"/>
            <p:cNvSpPr/>
            <p:nvPr/>
          </p:nvSpPr>
          <p:spPr bwMode="auto">
            <a:xfrm>
              <a:off x="280988" y="3417888"/>
              <a:ext cx="142875" cy="474663"/>
            </a:xfrm>
            <a:custGeom>
              <a:avLst/>
              <a:gdLst/>
              <a:ahLst/>
              <a:cxnLst/>
              <a:rect l="0" t="0" r="r" b="b"/>
              <a:pathLst>
                <a:path w="90" h="299">
                  <a:moveTo>
                    <a:pt x="12" y="299"/>
                  </a:moveTo>
                  <a:lnTo>
                    <a:pt x="0" y="299"/>
                  </a:lnTo>
                  <a:lnTo>
                    <a:pt x="0" y="80"/>
                  </a:lnTo>
                  <a:lnTo>
                    <a:pt x="81" y="0"/>
                  </a:lnTo>
                  <a:lnTo>
                    <a:pt x="90" y="8"/>
                  </a:lnTo>
                  <a:lnTo>
                    <a:pt x="12" y="83"/>
                  </a:lnTo>
                  <a:lnTo>
                    <a:pt x="12" y="299"/>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9" name="Freeform 42"/>
            <p:cNvSpPr>
              <a:spLocks noEditPoints="1"/>
            </p:cNvSpPr>
            <p:nvPr/>
          </p:nvSpPr>
          <p:spPr bwMode="auto">
            <a:xfrm>
              <a:off x="238125" y="3883025"/>
              <a:ext cx="109538" cy="109538"/>
            </a:xfrm>
            <a:custGeom>
              <a:avLst/>
              <a:gdLst/>
              <a:ahLst/>
              <a:cxnLst/>
              <a:rect l="0" t="0" r="r" b="b"/>
              <a:pathLst>
                <a:path w="23" h="23">
                  <a:moveTo>
                    <a:pt x="11" y="23"/>
                  </a:moveTo>
                  <a:cubicBezTo>
                    <a:pt x="5" y="23"/>
                    <a:pt x="0" y="18"/>
                    <a:pt x="0" y="12"/>
                  </a:cubicBezTo>
                  <a:cubicBezTo>
                    <a:pt x="0" y="5"/>
                    <a:pt x="5" y="0"/>
                    <a:pt x="11" y="0"/>
                  </a:cubicBezTo>
                  <a:cubicBezTo>
                    <a:pt x="17" y="0"/>
                    <a:pt x="23" y="5"/>
                    <a:pt x="23" y="12"/>
                  </a:cubicBezTo>
                  <a:cubicBezTo>
                    <a:pt x="23" y="18"/>
                    <a:pt x="17" y="23"/>
                    <a:pt x="11" y="23"/>
                  </a:cubicBezTo>
                  <a:close/>
                  <a:moveTo>
                    <a:pt x="11" y="4"/>
                  </a:moveTo>
                  <a:cubicBezTo>
                    <a:pt x="7" y="4"/>
                    <a:pt x="4" y="8"/>
                    <a:pt x="4" y="12"/>
                  </a:cubicBezTo>
                  <a:cubicBezTo>
                    <a:pt x="4" y="16"/>
                    <a:pt x="7" y="19"/>
                    <a:pt x="11" y="19"/>
                  </a:cubicBezTo>
                  <a:cubicBezTo>
                    <a:pt x="15" y="19"/>
                    <a:pt x="19" y="16"/>
                    <a:pt x="19" y="12"/>
                  </a:cubicBezTo>
                  <a:cubicBezTo>
                    <a:pt x="19" y="8"/>
                    <a:pt x="15" y="4"/>
                    <a:pt x="11"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0" name="Freeform 43"/>
            <p:cNvSpPr/>
            <p:nvPr/>
          </p:nvSpPr>
          <p:spPr bwMode="auto">
            <a:xfrm>
              <a:off x="4763" y="2166938"/>
              <a:ext cx="114300" cy="452438"/>
            </a:xfrm>
            <a:custGeom>
              <a:avLst/>
              <a:gdLst/>
              <a:ahLst/>
              <a:cxnLst/>
              <a:rect l="0" t="0" r="r" b="b"/>
              <a:pathLst>
                <a:path w="72" h="285">
                  <a:moveTo>
                    <a:pt x="6" y="285"/>
                  </a:moveTo>
                  <a:lnTo>
                    <a:pt x="0" y="276"/>
                  </a:lnTo>
                  <a:lnTo>
                    <a:pt x="60" y="216"/>
                  </a:lnTo>
                  <a:lnTo>
                    <a:pt x="60" y="0"/>
                  </a:lnTo>
                  <a:lnTo>
                    <a:pt x="72" y="0"/>
                  </a:lnTo>
                  <a:lnTo>
                    <a:pt x="72" y="222"/>
                  </a:lnTo>
                  <a:lnTo>
                    <a:pt x="6" y="28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1" name="Freeform 44"/>
            <p:cNvSpPr>
              <a:spLocks noEditPoints="1"/>
            </p:cNvSpPr>
            <p:nvPr/>
          </p:nvSpPr>
          <p:spPr bwMode="auto">
            <a:xfrm>
              <a:off x="52388" y="2066925"/>
              <a:ext cx="109538" cy="109538"/>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2" name="Rectangle 45"/>
            <p:cNvSpPr>
              <a:spLocks noChangeArrowheads="1"/>
            </p:cNvSpPr>
            <p:nvPr/>
          </p:nvSpPr>
          <p:spPr bwMode="auto">
            <a:xfrm>
              <a:off x="1228725" y="4662488"/>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53" name="Freeform 46"/>
            <p:cNvSpPr/>
            <p:nvPr/>
          </p:nvSpPr>
          <p:spPr bwMode="auto">
            <a:xfrm>
              <a:off x="1319213" y="5041900"/>
              <a:ext cx="371475" cy="1801813"/>
            </a:xfrm>
            <a:custGeom>
              <a:avLst/>
              <a:gdLst/>
              <a:ahLst/>
              <a:cxnLst/>
              <a:rect l="0" t="0" r="r" b="b"/>
              <a:pathLst>
                <a:path w="234" h="1135">
                  <a:moveTo>
                    <a:pt x="15" y="1135"/>
                  </a:moveTo>
                  <a:lnTo>
                    <a:pt x="0" y="1135"/>
                  </a:lnTo>
                  <a:lnTo>
                    <a:pt x="0" y="515"/>
                  </a:lnTo>
                  <a:lnTo>
                    <a:pt x="0" y="512"/>
                  </a:lnTo>
                  <a:lnTo>
                    <a:pt x="219" y="0"/>
                  </a:lnTo>
                  <a:lnTo>
                    <a:pt x="234" y="6"/>
                  </a:lnTo>
                  <a:lnTo>
                    <a:pt x="15" y="518"/>
                  </a:lnTo>
                  <a:lnTo>
                    <a:pt x="15"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4" name="Freeform 47"/>
            <p:cNvSpPr>
              <a:spLocks noEditPoints="1"/>
            </p:cNvSpPr>
            <p:nvPr/>
          </p:nvSpPr>
          <p:spPr bwMode="auto">
            <a:xfrm>
              <a:off x="1147763"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5" name="Freeform 48"/>
            <p:cNvSpPr/>
            <p:nvPr/>
          </p:nvSpPr>
          <p:spPr bwMode="auto">
            <a:xfrm>
              <a:off x="819150" y="3983038"/>
              <a:ext cx="347663" cy="2860675"/>
            </a:xfrm>
            <a:custGeom>
              <a:avLst/>
              <a:gdLst/>
              <a:ahLst/>
              <a:cxnLst/>
              <a:rect l="0" t="0" r="r" b="b"/>
              <a:pathLst>
                <a:path w="219" h="1802">
                  <a:moveTo>
                    <a:pt x="219" y="1802"/>
                  </a:moveTo>
                  <a:lnTo>
                    <a:pt x="201" y="1802"/>
                  </a:lnTo>
                  <a:lnTo>
                    <a:pt x="201" y="1185"/>
                  </a:lnTo>
                  <a:lnTo>
                    <a:pt x="0" y="3"/>
                  </a:lnTo>
                  <a:lnTo>
                    <a:pt x="15" y="0"/>
                  </a:lnTo>
                  <a:lnTo>
                    <a:pt x="219" y="1185"/>
                  </a:lnTo>
                  <a:lnTo>
                    <a:pt x="219" y="180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6" name="Freeform 49"/>
            <p:cNvSpPr>
              <a:spLocks noEditPoints="1"/>
            </p:cNvSpPr>
            <p:nvPr/>
          </p:nvSpPr>
          <p:spPr bwMode="auto">
            <a:xfrm>
              <a:off x="728663" y="3806825"/>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7" name="Freeform 50"/>
            <p:cNvSpPr>
              <a:spLocks noEditPoints="1"/>
            </p:cNvSpPr>
            <p:nvPr/>
          </p:nvSpPr>
          <p:spPr bwMode="auto">
            <a:xfrm>
              <a:off x="1624013"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8" name="Freeform 51"/>
            <p:cNvSpPr/>
            <p:nvPr/>
          </p:nvSpPr>
          <p:spPr bwMode="auto">
            <a:xfrm>
              <a:off x="1404938" y="5422900"/>
              <a:ext cx="371475" cy="1425575"/>
            </a:xfrm>
            <a:custGeom>
              <a:avLst/>
              <a:gdLst/>
              <a:ahLst/>
              <a:cxnLst/>
              <a:rect l="0" t="0" r="r" b="b"/>
              <a:pathLst>
                <a:path w="234" h="898">
                  <a:moveTo>
                    <a:pt x="18" y="898"/>
                  </a:moveTo>
                  <a:lnTo>
                    <a:pt x="0" y="898"/>
                  </a:lnTo>
                  <a:lnTo>
                    <a:pt x="0" y="515"/>
                  </a:lnTo>
                  <a:lnTo>
                    <a:pt x="0" y="512"/>
                  </a:lnTo>
                  <a:lnTo>
                    <a:pt x="222" y="0"/>
                  </a:lnTo>
                  <a:lnTo>
                    <a:pt x="234" y="6"/>
                  </a:lnTo>
                  <a:lnTo>
                    <a:pt x="18" y="518"/>
                  </a:lnTo>
                  <a:lnTo>
                    <a:pt x="18" y="89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9" name="Freeform 52"/>
            <p:cNvSpPr/>
            <p:nvPr/>
          </p:nvSpPr>
          <p:spPr bwMode="auto">
            <a:xfrm>
              <a:off x="1666875"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0" name="Freeform 53"/>
            <p:cNvSpPr>
              <a:spLocks noEditPoints="1"/>
            </p:cNvSpPr>
            <p:nvPr/>
          </p:nvSpPr>
          <p:spPr bwMode="auto">
            <a:xfrm>
              <a:off x="1709738"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1" name="Freeform 54"/>
            <p:cNvSpPr>
              <a:spLocks noEditPoints="1"/>
            </p:cNvSpPr>
            <p:nvPr/>
          </p:nvSpPr>
          <p:spPr bwMode="auto">
            <a:xfrm>
              <a:off x="1709738"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2" name="Freeform 55"/>
            <p:cNvSpPr/>
            <p:nvPr/>
          </p:nvSpPr>
          <p:spPr bwMode="auto">
            <a:xfrm>
              <a:off x="1766888" y="6330950"/>
              <a:ext cx="419100" cy="527050"/>
            </a:xfrm>
            <a:custGeom>
              <a:avLst/>
              <a:gdLst/>
              <a:ahLst/>
              <a:cxnLst/>
              <a:rect l="0" t="0" r="r" b="b"/>
              <a:pathLst>
                <a:path w="264" h="332">
                  <a:moveTo>
                    <a:pt x="12" y="332"/>
                  </a:moveTo>
                  <a:lnTo>
                    <a:pt x="0" y="326"/>
                  </a:lnTo>
                  <a:lnTo>
                    <a:pt x="45" y="206"/>
                  </a:lnTo>
                  <a:lnTo>
                    <a:pt x="255" y="0"/>
                  </a:lnTo>
                  <a:lnTo>
                    <a:pt x="264" y="12"/>
                  </a:lnTo>
                  <a:lnTo>
                    <a:pt x="60" y="215"/>
                  </a:lnTo>
                  <a:lnTo>
                    <a:pt x="12" y="33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3" name="Freeform 56"/>
            <p:cNvSpPr>
              <a:spLocks noEditPoints="1"/>
            </p:cNvSpPr>
            <p:nvPr/>
          </p:nvSpPr>
          <p:spPr bwMode="auto">
            <a:xfrm>
              <a:off x="2147888"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4" name="Freeform 57"/>
            <p:cNvSpPr/>
            <p:nvPr/>
          </p:nvSpPr>
          <p:spPr bwMode="auto">
            <a:xfrm>
              <a:off x="504825" y="9525"/>
              <a:ext cx="233363" cy="5103813"/>
            </a:xfrm>
            <a:custGeom>
              <a:avLst/>
              <a:gdLst/>
              <a:ahLst/>
              <a:cxnLst/>
              <a:rect l="0" t="0" r="r" b="b"/>
              <a:pathLst>
                <a:path w="147" h="3215">
                  <a:moveTo>
                    <a:pt x="132" y="3215"/>
                  </a:moveTo>
                  <a:lnTo>
                    <a:pt x="129" y="2754"/>
                  </a:lnTo>
                  <a:lnTo>
                    <a:pt x="0" y="1901"/>
                  </a:lnTo>
                  <a:lnTo>
                    <a:pt x="0" y="0"/>
                  </a:lnTo>
                  <a:lnTo>
                    <a:pt x="15" y="0"/>
                  </a:lnTo>
                  <a:lnTo>
                    <a:pt x="15" y="1898"/>
                  </a:lnTo>
                  <a:lnTo>
                    <a:pt x="144" y="2754"/>
                  </a:lnTo>
                  <a:lnTo>
                    <a:pt x="147" y="3215"/>
                  </a:lnTo>
                  <a:lnTo>
                    <a:pt x="132" y="321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5" name="Freeform 58"/>
            <p:cNvSpPr>
              <a:spLocks noEditPoints="1"/>
            </p:cNvSpPr>
            <p:nvPr/>
          </p:nvSpPr>
          <p:spPr bwMode="auto">
            <a:xfrm>
              <a:off x="633413" y="5103813"/>
              <a:ext cx="185738" cy="185738"/>
            </a:xfrm>
            <a:custGeom>
              <a:avLst/>
              <a:gdLst/>
              <a:ahLst/>
              <a:cxnLst/>
              <a:rect l="0" t="0" r="r" b="b"/>
              <a:pathLst>
                <a:path w="39" h="39">
                  <a:moveTo>
                    <a:pt x="20" y="39"/>
                  </a:moveTo>
                  <a:cubicBezTo>
                    <a:pt x="9" y="39"/>
                    <a:pt x="0" y="30"/>
                    <a:pt x="0" y="19"/>
                  </a:cubicBezTo>
                  <a:cubicBezTo>
                    <a:pt x="0" y="9"/>
                    <a:pt x="9" y="0"/>
                    <a:pt x="20" y="0"/>
                  </a:cubicBezTo>
                  <a:cubicBezTo>
                    <a:pt x="30" y="0"/>
                    <a:pt x="39" y="9"/>
                    <a:pt x="39" y="19"/>
                  </a:cubicBezTo>
                  <a:cubicBezTo>
                    <a:pt x="39" y="30"/>
                    <a:pt x="30" y="39"/>
                    <a:pt x="20" y="39"/>
                  </a:cubicBezTo>
                  <a:close/>
                  <a:moveTo>
                    <a:pt x="20" y="4"/>
                  </a:moveTo>
                  <a:cubicBezTo>
                    <a:pt x="11" y="4"/>
                    <a:pt x="4" y="11"/>
                    <a:pt x="4" y="19"/>
                  </a:cubicBezTo>
                  <a:cubicBezTo>
                    <a:pt x="4" y="28"/>
                    <a:pt x="11" y="35"/>
                    <a:pt x="20" y="35"/>
                  </a:cubicBezTo>
                  <a:cubicBezTo>
                    <a:pt x="28" y="35"/>
                    <a:pt x="35" y="28"/>
                    <a:pt x="35" y="19"/>
                  </a:cubicBezTo>
                  <a:cubicBezTo>
                    <a:pt x="35"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grpSp>
      <p:sp>
        <p:nvSpPr>
          <p:cNvPr id="2" name="Title 1"/>
          <p:cNvSpPr>
            <a:spLocks noGrp="1"/>
          </p:cNvSpPr>
          <p:nvPr>
            <p:ph type="ctrTitle"/>
          </p:nvPr>
        </p:nvSpPr>
        <p:spPr>
          <a:xfrm>
            <a:off x="1876424" y="1122363"/>
            <a:ext cx="8791575" cy="2387600"/>
          </a:xfrm>
        </p:spPr>
        <p:txBody>
          <a:bodyPr anchor="b">
            <a:normAutofit/>
          </a:bodyPr>
          <a:lstStyle>
            <a:lvl1pPr algn="l">
              <a:defRPr sz="4800"/>
            </a:lvl1pPr>
          </a:lstStyle>
          <a:p>
            <a:r>
              <a:rPr lang="en-US"/>
              <a:t>Click to edit Master title style</a:t>
            </a:r>
            <a:endParaRPr lang="en-US" dirty="0"/>
          </a:p>
        </p:txBody>
      </p:sp>
      <p:sp>
        <p:nvSpPr>
          <p:cNvPr id="3" name="Subtitle 2"/>
          <p:cNvSpPr>
            <a:spLocks noGrp="1"/>
          </p:cNvSpPr>
          <p:nvPr>
            <p:ph type="subTitle" idx="1"/>
          </p:nvPr>
        </p:nvSpPr>
        <p:spPr>
          <a:xfrm>
            <a:off x="1876424" y="3602038"/>
            <a:ext cx="8791575" cy="1655762"/>
          </a:xfrm>
        </p:spPr>
        <p:txBody>
          <a:bodyPr>
            <a:normAutofit/>
          </a:bodyPr>
          <a:lstStyle>
            <a:lvl1pPr marL="0" indent="0" algn="l">
              <a:buNone/>
              <a:defRPr sz="2000" cap="all" baseline="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a:xfrm>
            <a:off x="7077511" y="5410201"/>
            <a:ext cx="2743200" cy="365125"/>
          </a:xfrm>
        </p:spPr>
        <p:txBody>
          <a:bodyPr/>
          <a:lstStyle/>
          <a:p>
            <a:fld id="{48A87A34-81AB-432B-8DAE-1953F412C126}" type="datetimeFigureOut">
              <a:rPr lang="en-US" dirty="0"/>
              <a:t>6/8/26</a:t>
            </a:fld>
            <a:endParaRPr lang="en-US" dirty="0"/>
          </a:p>
        </p:txBody>
      </p:sp>
      <p:sp>
        <p:nvSpPr>
          <p:cNvPr id="5" name="Footer Placeholder 4"/>
          <p:cNvSpPr>
            <a:spLocks noGrp="1"/>
          </p:cNvSpPr>
          <p:nvPr>
            <p:ph type="ftr" sz="quarter" idx="11"/>
          </p:nvPr>
        </p:nvSpPr>
        <p:spPr>
          <a:xfrm>
            <a:off x="1876424" y="5410201"/>
            <a:ext cx="5124886" cy="365125"/>
          </a:xfrm>
        </p:spPr>
        <p:txBody>
          <a:bodyPr/>
          <a:lstStyle/>
          <a:p>
            <a:endParaRPr lang="en-US" dirty="0"/>
          </a:p>
        </p:txBody>
      </p:sp>
      <p:sp>
        <p:nvSpPr>
          <p:cNvPr id="6" name="Slide Number Placeholder 5"/>
          <p:cNvSpPr>
            <a:spLocks noGrp="1"/>
          </p:cNvSpPr>
          <p:nvPr>
            <p:ph type="sldNum" sz="quarter" idx="12"/>
          </p:nvPr>
        </p:nvSpPr>
        <p:spPr>
          <a:xfrm>
            <a:off x="9896911" y="5410199"/>
            <a:ext cx="771089" cy="365125"/>
          </a:xfrm>
        </p:spPr>
        <p:txBody>
          <a:bodyPr/>
          <a:lstStyle/>
          <a:p>
            <a:fld id="{6D22F896-40B5-4ADD-8801-0D06FADFA095}" type="slidenum">
              <a:rPr lang="en-US" dirty="0"/>
              <a:t>‹#›</a:t>
            </a:fld>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dirty="0"/>
              <a:t>6/8/26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141411" y="1419226"/>
            <a:ext cx="9906000" cy="2852737"/>
          </a:xfrm>
        </p:spPr>
        <p:txBody>
          <a:bodyPr anchor="b">
            <a:normAutofit/>
          </a:bodyPr>
          <a:lstStyle>
            <a:lvl1pPr>
              <a:defRPr sz="3600"/>
            </a:lvl1pPr>
          </a:lstStyle>
          <a:p>
            <a:r>
              <a:rPr lang="en-US"/>
              <a:t>Click to edit Master title style</a:t>
            </a:r>
            <a:endParaRPr lang="en-US" dirty="0"/>
          </a:p>
        </p:txBody>
      </p:sp>
      <p:sp>
        <p:nvSpPr>
          <p:cNvPr id="3" name="Text Placeholder 2"/>
          <p:cNvSpPr>
            <a:spLocks noGrp="1"/>
          </p:cNvSpPr>
          <p:nvPr>
            <p:ph type="body" idx="1"/>
          </p:nvPr>
        </p:nvSpPr>
        <p:spPr>
          <a:xfrm>
            <a:off x="1141411" y="4424362"/>
            <a:ext cx="9906000" cy="1374776"/>
          </a:xfrm>
        </p:spPr>
        <p:txBody>
          <a:bodyPr>
            <a:normAutofit/>
          </a:bodyPr>
          <a:lstStyle>
            <a:lvl1pPr marL="0" indent="0">
              <a:buNone/>
              <a:defRPr sz="1800" cap="all" baseline="0">
                <a:solidFill>
                  <a:schemeClr val="tx1">
                    <a:tint val="75000"/>
                  </a:schemeClr>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8A87A34-81AB-432B-8DAE-1953F412C126}" type="datetimeFigureOut">
              <a:rPr lang="en-US" dirty="0"/>
              <a:t>6/8/26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141410" y="2249486"/>
            <a:ext cx="4878389" cy="354171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2249486"/>
            <a:ext cx="4875211" cy="354171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48A87A34-81AB-432B-8DAE-1953F412C126}" type="datetimeFigureOut">
              <a:rPr lang="en-US" dirty="0"/>
              <a:t>6/8/26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141411" y="619126"/>
            <a:ext cx="9906000" cy="1477961"/>
          </a:xfrm>
        </p:spPr>
        <p:txBody>
          <a:bodyPr/>
          <a:lstStyle/>
          <a:p>
            <a:r>
              <a:rPr lang="en-US"/>
              <a:t>Click to edit Master title style</a:t>
            </a:r>
            <a:endParaRPr lang="en-US" dirty="0"/>
          </a:p>
        </p:txBody>
      </p:sp>
      <p:sp>
        <p:nvSpPr>
          <p:cNvPr id="3" name="Text Placeholder 2"/>
          <p:cNvSpPr>
            <a:spLocks noGrp="1"/>
          </p:cNvSpPr>
          <p:nvPr>
            <p:ph type="body" idx="1"/>
          </p:nvPr>
        </p:nvSpPr>
        <p:spPr>
          <a:xfrm>
            <a:off x="1370019" y="2249486"/>
            <a:ext cx="4649783"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141410" y="3073397"/>
            <a:ext cx="4878391" cy="271780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400808" y="2249485"/>
            <a:ext cx="4646602"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3073397"/>
            <a:ext cx="4875210" cy="271780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48A87A34-81AB-432B-8DAE-1953F412C126}" type="datetimeFigureOut">
              <a:rPr lang="en-US" dirty="0"/>
              <a:t>6/8/26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48A87A34-81AB-432B-8DAE-1953F412C126}" type="datetimeFigureOut">
              <a:rPr lang="en-US" dirty="0"/>
              <a:t>6/8/26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8A87A34-81AB-432B-8DAE-1953F412C126}" type="datetimeFigureOut">
              <a:rPr lang="en-US" dirty="0"/>
              <a:t>6/8/26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6705" y="609601"/>
            <a:ext cx="3856037" cy="1639884"/>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56200" y="592666"/>
            <a:ext cx="5891209" cy="5198534"/>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146705" y="2249486"/>
            <a:ext cx="3856037"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dirty="0"/>
              <a:t>6/8/26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3" y="609600"/>
            <a:ext cx="5934508" cy="1639886"/>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7380721" y="609601"/>
            <a:ext cx="3666690" cy="5181599"/>
          </a:xfrm>
          <a:prstGeom prst="round2DiagRect">
            <a:avLst>
              <a:gd name="adj1" fmla="val 5608"/>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141410" y="2249486"/>
            <a:ext cx="5934511"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dirty="0"/>
              <a:t>6/8/26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0" y="4304664"/>
            <a:ext cx="9912355" cy="819355"/>
          </a:xfrm>
        </p:spPr>
        <p:txBody>
          <a:bodyPr anchor="b">
            <a:normAutofit/>
          </a:bodyPr>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1141411" y="606426"/>
            <a:ext cx="9912354" cy="3299778"/>
          </a:xfrm>
          <a:prstGeom prst="round2DiagRect">
            <a:avLst>
              <a:gd name="adj1" fmla="val 4860"/>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3200"/>
            </a:lvl1pPr>
          </a:lstStyle>
          <a:p>
            <a:pPr marL="0" lvl="0" indent="0">
              <a:buNone/>
            </a:pPr>
            <a:r>
              <a:rPr lang="en-US"/>
              <a:t>Click icon to add picture</a:t>
            </a:r>
            <a:endParaRPr lang="en-US" dirty="0"/>
          </a:p>
        </p:txBody>
      </p:sp>
      <p:sp>
        <p:nvSpPr>
          <p:cNvPr id="4" name="Text Placeholder 3"/>
          <p:cNvSpPr>
            <a:spLocks noGrp="1"/>
          </p:cNvSpPr>
          <p:nvPr>
            <p:ph type="body" sz="half" idx="2"/>
          </p:nvPr>
        </p:nvSpPr>
        <p:spPr>
          <a:xfrm>
            <a:off x="1141364" y="5124020"/>
            <a:ext cx="9910859" cy="682472"/>
          </a:xfrm>
        </p:spPr>
        <p:txBody>
          <a:bodyPr>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dirty="0"/>
              <a:t>6/8/26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56" y="609600"/>
            <a:ext cx="9905955" cy="3429000"/>
          </a:xfrm>
        </p:spPr>
        <p:txBody>
          <a:bodyPr anchor="ctr">
            <a:normAutofit/>
          </a:bodyPr>
          <a:lstStyle>
            <a:lvl1pPr>
              <a:defRPr sz="3600"/>
            </a:lvl1pPr>
          </a:lstStyle>
          <a:p>
            <a:r>
              <a:rPr lang="en-US"/>
              <a:t>Click to edit Master title style</a:t>
            </a:r>
            <a:endParaRPr lang="en-US" dirty="0"/>
          </a:p>
        </p:txBody>
      </p:sp>
      <p:sp>
        <p:nvSpPr>
          <p:cNvPr id="4" name="Text Placeholder 3"/>
          <p:cNvSpPr>
            <a:spLocks noGrp="1"/>
          </p:cNvSpPr>
          <p:nvPr>
            <p:ph type="body" sz="half" idx="2"/>
          </p:nvPr>
        </p:nvSpPr>
        <p:spPr>
          <a:xfrm>
            <a:off x="1141410" y="4419599"/>
            <a:ext cx="9904459" cy="1371599"/>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dirty="0"/>
              <a:t>6/8/26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2" y="609599"/>
            <a:ext cx="9302752" cy="2748429"/>
          </a:xfrm>
        </p:spPr>
        <p:txBody>
          <a:bodyPr anchor="ctr">
            <a:normAutofit/>
          </a:bodyPr>
          <a:lstStyle>
            <a:lvl1pPr>
              <a:defRPr sz="3600"/>
            </a:lvl1pPr>
          </a:lstStyle>
          <a:p>
            <a:r>
              <a:rPr lang="en-US"/>
              <a:t>Click to edit Master title style</a:t>
            </a:r>
            <a:endParaRPr lang="en-US" dirty="0"/>
          </a:p>
        </p:txBody>
      </p:sp>
      <p:sp>
        <p:nvSpPr>
          <p:cNvPr id="12" name="Text Placeholder 3"/>
          <p:cNvSpPr>
            <a:spLocks noGrp="1"/>
          </p:cNvSpPr>
          <p:nvPr>
            <p:ph type="body" sz="half" idx="13"/>
          </p:nvPr>
        </p:nvSpPr>
        <p:spPr>
          <a:xfrm>
            <a:off x="1720644" y="3365557"/>
            <a:ext cx="8752299" cy="548968"/>
          </a:xfrm>
        </p:spPr>
        <p:txBody>
          <a:bodyPr anchor="t">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4" name="Text Placeholder 3"/>
          <p:cNvSpPr>
            <a:spLocks noGrp="1"/>
          </p:cNvSpPr>
          <p:nvPr>
            <p:ph type="body" sz="half" idx="2"/>
          </p:nvPr>
        </p:nvSpPr>
        <p:spPr>
          <a:xfrm>
            <a:off x="1141411" y="4309919"/>
            <a:ext cx="9906002" cy="1489496"/>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dirty="0"/>
              <a:t>6/8/26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
        <p:nvSpPr>
          <p:cNvPr id="60" name="TextBox 59"/>
          <p:cNvSpPr txBox="1"/>
          <p:nvPr/>
        </p:nvSpPr>
        <p:spPr>
          <a:xfrm>
            <a:off x="903512" y="732394"/>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61" name="TextBox 60"/>
          <p:cNvSpPr txBox="1"/>
          <p:nvPr/>
        </p:nvSpPr>
        <p:spPr>
          <a:xfrm>
            <a:off x="10537370" y="2764972"/>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141410" y="2134041"/>
            <a:ext cx="9906001" cy="2511835"/>
          </a:xfrm>
        </p:spPr>
        <p:txBody>
          <a:bodyPr anchor="b">
            <a:normAutofit/>
          </a:bodyPr>
          <a:lstStyle>
            <a:lvl1pPr>
              <a:defRPr sz="3600"/>
            </a:lvl1pPr>
          </a:lstStyle>
          <a:p>
            <a:r>
              <a:rPr lang="en-US"/>
              <a:t>Click to edit Master title style</a:t>
            </a:r>
            <a:endParaRPr lang="en-US" dirty="0"/>
          </a:p>
        </p:txBody>
      </p:sp>
      <p:sp>
        <p:nvSpPr>
          <p:cNvPr id="4" name="Text Placeholder 3"/>
          <p:cNvSpPr>
            <a:spLocks noGrp="1"/>
          </p:cNvSpPr>
          <p:nvPr>
            <p:ph type="body" sz="half" idx="2"/>
          </p:nvPr>
        </p:nvSpPr>
        <p:spPr>
          <a:xfrm>
            <a:off x="1141364" y="4657655"/>
            <a:ext cx="9904505" cy="1140644"/>
          </a:xfrm>
        </p:spPr>
        <p:txBody>
          <a:bodyPr anchor="t">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dirty="0"/>
              <a:t>6/8/26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1141413" y="609600"/>
            <a:ext cx="9905998" cy="1905000"/>
          </a:xfrm>
        </p:spPr>
        <p:txBody>
          <a:bodyPr/>
          <a:lstStyle/>
          <a:p>
            <a:r>
              <a:rPr lang="en-US"/>
              <a:t>Click to edit Master title style</a:t>
            </a:r>
            <a:endParaRPr lang="en-US" dirty="0"/>
          </a:p>
        </p:txBody>
      </p:sp>
      <p:sp>
        <p:nvSpPr>
          <p:cNvPr id="7" name="Text Placeholder 2"/>
          <p:cNvSpPr>
            <a:spLocks noGrp="1"/>
          </p:cNvSpPr>
          <p:nvPr>
            <p:ph type="body" idx="1"/>
          </p:nvPr>
        </p:nvSpPr>
        <p:spPr>
          <a:xfrm>
            <a:off x="1141410" y="2674463"/>
            <a:ext cx="3196899"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3"/>
          <p:cNvSpPr>
            <a:spLocks noGrp="1"/>
          </p:cNvSpPr>
          <p:nvPr>
            <p:ph type="body" sz="half" idx="15"/>
          </p:nvPr>
        </p:nvSpPr>
        <p:spPr>
          <a:xfrm>
            <a:off x="1127918" y="3360263"/>
            <a:ext cx="3208735"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9" name="Text Placeholder 4"/>
          <p:cNvSpPr>
            <a:spLocks noGrp="1"/>
          </p:cNvSpPr>
          <p:nvPr>
            <p:ph type="body" sz="quarter" idx="3"/>
          </p:nvPr>
        </p:nvSpPr>
        <p:spPr>
          <a:xfrm>
            <a:off x="4514766" y="2677635"/>
            <a:ext cx="3184385"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Text Placeholder 3"/>
          <p:cNvSpPr>
            <a:spLocks noGrp="1"/>
          </p:cNvSpPr>
          <p:nvPr>
            <p:ph type="body" sz="half" idx="16"/>
          </p:nvPr>
        </p:nvSpPr>
        <p:spPr>
          <a:xfrm>
            <a:off x="4504213" y="3363435"/>
            <a:ext cx="3195830"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1" name="Text Placeholder 4"/>
          <p:cNvSpPr>
            <a:spLocks noGrp="1"/>
          </p:cNvSpPr>
          <p:nvPr>
            <p:ph type="body" sz="quarter" idx="13"/>
          </p:nvPr>
        </p:nvSpPr>
        <p:spPr>
          <a:xfrm>
            <a:off x="7852442" y="2674463"/>
            <a:ext cx="3194968"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Text Placeholder 3"/>
          <p:cNvSpPr>
            <a:spLocks noGrp="1"/>
          </p:cNvSpPr>
          <p:nvPr>
            <p:ph type="body" sz="half" idx="17"/>
          </p:nvPr>
        </p:nvSpPr>
        <p:spPr>
          <a:xfrm>
            <a:off x="7852442" y="3360263"/>
            <a:ext cx="3194968"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48A87A34-81AB-432B-8DAE-1953F412C126}" type="datetimeFigureOut">
              <a:rPr lang="en-US" dirty="0"/>
              <a:t>6/8/26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30" name="Title 1"/>
          <p:cNvSpPr>
            <a:spLocks noGrp="1"/>
          </p:cNvSpPr>
          <p:nvPr>
            <p:ph type="title"/>
          </p:nvPr>
        </p:nvSpPr>
        <p:spPr>
          <a:xfrm>
            <a:off x="1141411" y="609600"/>
            <a:ext cx="9905999" cy="190500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1141413" y="4404596"/>
            <a:ext cx="319524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0" name="Picture Placeholder 2"/>
          <p:cNvSpPr>
            <a:spLocks noGrp="1" noChangeAspect="1"/>
          </p:cNvSpPr>
          <p:nvPr>
            <p:ph type="pic" idx="15"/>
          </p:nvPr>
        </p:nvSpPr>
        <p:spPr>
          <a:xfrm>
            <a:off x="1141413" y="2666998"/>
            <a:ext cx="31952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a:t>Click icon to add picture</a:t>
            </a:r>
            <a:endParaRPr lang="en-US" dirty="0"/>
          </a:p>
        </p:txBody>
      </p:sp>
      <p:sp>
        <p:nvSpPr>
          <p:cNvPr id="21" name="Text Placeholder 3"/>
          <p:cNvSpPr>
            <a:spLocks noGrp="1"/>
          </p:cNvSpPr>
          <p:nvPr>
            <p:ph type="body" sz="half" idx="18"/>
          </p:nvPr>
        </p:nvSpPr>
        <p:spPr>
          <a:xfrm>
            <a:off x="1141413" y="4980858"/>
            <a:ext cx="3195240" cy="81784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2" name="Text Placeholder 4"/>
          <p:cNvSpPr>
            <a:spLocks noGrp="1"/>
          </p:cNvSpPr>
          <p:nvPr>
            <p:ph type="body" sz="quarter" idx="3"/>
          </p:nvPr>
        </p:nvSpPr>
        <p:spPr>
          <a:xfrm>
            <a:off x="4489053" y="4404596"/>
            <a:ext cx="320040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3" name="Picture Placeholder 2"/>
          <p:cNvSpPr>
            <a:spLocks noGrp="1" noChangeAspect="1"/>
          </p:cNvSpPr>
          <p:nvPr>
            <p:ph type="pic" idx="21"/>
          </p:nvPr>
        </p:nvSpPr>
        <p:spPr>
          <a:xfrm>
            <a:off x="4489053" y="2666998"/>
            <a:ext cx="31989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a:t>Click icon to add picture</a:t>
            </a:r>
            <a:endParaRPr lang="en-US" dirty="0"/>
          </a:p>
        </p:txBody>
      </p:sp>
      <p:sp>
        <p:nvSpPr>
          <p:cNvPr id="24" name="Text Placeholder 3"/>
          <p:cNvSpPr>
            <a:spLocks noGrp="1"/>
          </p:cNvSpPr>
          <p:nvPr>
            <p:ph type="body" sz="half" idx="19"/>
          </p:nvPr>
        </p:nvSpPr>
        <p:spPr>
          <a:xfrm>
            <a:off x="4487593" y="4980857"/>
            <a:ext cx="3200400" cy="81034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5" name="Text Placeholder 4"/>
          <p:cNvSpPr>
            <a:spLocks noGrp="1"/>
          </p:cNvSpPr>
          <p:nvPr>
            <p:ph type="body" sz="quarter" idx="13"/>
          </p:nvPr>
        </p:nvSpPr>
        <p:spPr>
          <a:xfrm>
            <a:off x="7852567" y="4404595"/>
            <a:ext cx="3190741"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6" name="Picture Placeholder 2"/>
          <p:cNvSpPr>
            <a:spLocks noGrp="1" noChangeAspect="1"/>
          </p:cNvSpPr>
          <p:nvPr>
            <p:ph type="pic" idx="22"/>
          </p:nvPr>
        </p:nvSpPr>
        <p:spPr>
          <a:xfrm>
            <a:off x="7852442" y="2666998"/>
            <a:ext cx="3194969"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a:t>Click icon to add picture</a:t>
            </a:r>
            <a:endParaRPr lang="en-US" dirty="0"/>
          </a:p>
        </p:txBody>
      </p:sp>
      <p:sp>
        <p:nvSpPr>
          <p:cNvPr id="27" name="Text Placeholder 3"/>
          <p:cNvSpPr>
            <a:spLocks noGrp="1"/>
          </p:cNvSpPr>
          <p:nvPr>
            <p:ph type="body" sz="half" idx="20"/>
          </p:nvPr>
        </p:nvSpPr>
        <p:spPr>
          <a:xfrm>
            <a:off x="7852442" y="4980854"/>
            <a:ext cx="3194968" cy="810345"/>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48A87A34-81AB-432B-8DAE-1953F412C126}" type="datetimeFigureOut">
              <a:rPr lang="en-US" dirty="0"/>
              <a:t>6/8/26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dirty="0"/>
              <a:t>6/8/26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042400" y="609599"/>
            <a:ext cx="2005011" cy="5181601"/>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141410" y="609599"/>
            <a:ext cx="7748590" cy="5181601"/>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dirty="0"/>
              <a:t>6/8/26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7" name="Picture 2" descr="\\DROBO-FS\QuickDrops\JB\PPTX NG\Droplets\LightingOverlay.png"/>
          <p:cNvPicPr>
            <a:picLocks noChangeAspect="1" noChangeArrowheads="1"/>
          </p:cNvPicPr>
          <p:nvPr/>
        </p:nvPicPr>
        <p:blipFill>
          <a:blip r:embed="rId19">
            <a:alphaModFix amt="30000"/>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a14="http://schemas.microsoft.com/office/drawing/2010/main" xmlns="">
                <a:solidFill>
                  <a:srgbClr val="FFFFFF"/>
                </a:solidFill>
              </a14:hiddenFill>
            </a:ext>
          </a:extLst>
        </p:spPr>
      </p:pic>
      <p:grpSp>
        <p:nvGrpSpPr>
          <p:cNvPr id="8" name="Group 7"/>
          <p:cNvGrpSpPr/>
          <p:nvPr/>
        </p:nvGrpSpPr>
        <p:grpSpPr>
          <a:xfrm>
            <a:off x="-14288" y="0"/>
            <a:ext cx="12053888" cy="6858001"/>
            <a:chOff x="-14288" y="0"/>
            <a:chExt cx="12053888" cy="6858001"/>
          </a:xfrm>
        </p:grpSpPr>
        <p:grpSp>
          <p:nvGrpSpPr>
            <p:cNvPr id="9" name="Group 8"/>
            <p:cNvGrpSpPr/>
            <p:nvPr/>
          </p:nvGrpSpPr>
          <p:grpSpPr>
            <a:xfrm>
              <a:off x="-14288" y="0"/>
              <a:ext cx="1220788" cy="6858001"/>
              <a:chOff x="-14288" y="0"/>
              <a:chExt cx="1220788" cy="6858001"/>
            </a:xfrm>
            <a:gradFill flip="none" rotWithShape="1">
              <a:gsLst>
                <a:gs pos="0">
                  <a:schemeClr val="tx2"/>
                </a:gs>
                <a:gs pos="100000">
                  <a:schemeClr val="bg2">
                    <a:lumMod val="60000"/>
                    <a:lumOff val="40000"/>
                  </a:schemeClr>
                </a:gs>
              </a:gsLst>
              <a:lin ang="5400000" scaled="0"/>
              <a:tileRect/>
            </a:gradFill>
          </p:grpSpPr>
          <p:sp>
            <p:nvSpPr>
              <p:cNvPr id="21" name="Rectangle 5"/>
              <p:cNvSpPr>
                <a:spLocks noChangeArrowheads="1"/>
              </p:cNvSpPr>
              <p:nvPr/>
            </p:nvSpPr>
            <p:spPr bwMode="auto">
              <a:xfrm>
                <a:off x="114300" y="4763"/>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22" name="Freeform 6"/>
              <p:cNvSpPr>
                <a:spLocks noEditPoints="1"/>
              </p:cNvSpPr>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3" name="Freeform 7"/>
              <p:cNvSpPr>
                <a:spLocks noEditPoints="1"/>
              </p:cNvSpPr>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4" name="Freeform 8"/>
              <p:cNvSpPr/>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5" name="Freeform 9"/>
              <p:cNvSpPr>
                <a:spLocks noEditPoints="1"/>
              </p:cNvSpPr>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6" name="Freeform 10"/>
              <p:cNvSpPr/>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7" name="Freeform 11"/>
              <p:cNvSpPr/>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8" name="Freeform 12"/>
              <p:cNvSpPr>
                <a:spLocks noEditPoints="1"/>
              </p:cNvSpPr>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9" name="Freeform 13"/>
              <p:cNvSpPr>
                <a:spLocks noEditPoints="1"/>
              </p:cNvSpPr>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0" name="Freeform 14"/>
              <p:cNvSpPr/>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1" name="Freeform 15"/>
              <p:cNvSpPr>
                <a:spLocks noEditPoints="1"/>
              </p:cNvSpPr>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2" name="Line 16"/>
              <p:cNvSpPr>
                <a:spLocks noChangeShapeType="1"/>
              </p:cNvSpPr>
              <p:nvPr/>
            </p:nvSpPr>
            <p:spPr bwMode="auto">
              <a:xfrm>
                <a:off x="-4763" y="9525"/>
                <a:ext cx="0" cy="0"/>
              </a:xfrm>
              <a:prstGeom prst="line">
                <a:avLst/>
              </a:prstGeom>
              <a:grpFill/>
              <a:ln w="15" cap="flat">
                <a:solidFill>
                  <a:srgbClr val="FFFFFF"/>
                </a:solidFill>
                <a:prstDash val="solid"/>
                <a:miter lim="800000"/>
                <a:headEnd/>
                <a:tailEnd/>
              </a:ln>
            </p:spPr>
          </p:sp>
          <p:sp>
            <p:nvSpPr>
              <p:cNvPr id="33" name="Freeform 17"/>
              <p:cNvSpPr/>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4" name="Freeform 18"/>
              <p:cNvSpPr/>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5" name="Freeform 19"/>
              <p:cNvSpPr/>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6" name="Freeform 20"/>
              <p:cNvSpPr>
                <a:spLocks noEditPoints="1"/>
              </p:cNvSpPr>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7" name="Rectangle 21"/>
              <p:cNvSpPr>
                <a:spLocks noChangeArrowheads="1"/>
              </p:cNvSpPr>
              <p:nvPr/>
            </p:nvSpPr>
            <p:spPr bwMode="auto">
              <a:xfrm>
                <a:off x="133350" y="4662488"/>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38" name="Freeform 22"/>
              <p:cNvSpPr/>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9" name="Freeform 23"/>
              <p:cNvSpPr>
                <a:spLocks noEditPoints="1"/>
              </p:cNvSpPr>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0" name="Freeform 24"/>
              <p:cNvSpPr/>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1" name="Freeform 25"/>
              <p:cNvSpPr>
                <a:spLocks noEditPoints="1"/>
              </p:cNvSpPr>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2" name="Freeform 26"/>
              <p:cNvSpPr/>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3" name="Freeform 27"/>
              <p:cNvSpPr/>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4" name="Freeform 28"/>
              <p:cNvSpPr>
                <a:spLocks noEditPoints="1"/>
              </p:cNvSpPr>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5" name="Freeform 29"/>
              <p:cNvSpPr>
                <a:spLocks noEditPoints="1"/>
              </p:cNvSpPr>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6" name="Freeform 30"/>
              <p:cNvSpPr/>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7" name="Freeform 31"/>
              <p:cNvSpPr>
                <a:spLocks noEditPoints="1"/>
              </p:cNvSpPr>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grpSp>
        <p:grpSp>
          <p:nvGrpSpPr>
            <p:cNvPr id="10" name="Group 9"/>
            <p:cNvGrpSpPr/>
            <p:nvPr/>
          </p:nvGrpSpPr>
          <p:grpSpPr>
            <a:xfrm>
              <a:off x="11364912" y="0"/>
              <a:ext cx="674688" cy="6848476"/>
              <a:chOff x="11364912" y="0"/>
              <a:chExt cx="674688" cy="6848476"/>
            </a:xfrm>
            <a:gradFill flip="none" rotWithShape="1">
              <a:gsLst>
                <a:gs pos="0">
                  <a:schemeClr val="tx2">
                    <a:alpha val="80000"/>
                  </a:schemeClr>
                </a:gs>
                <a:gs pos="100000">
                  <a:schemeClr val="bg2">
                    <a:lumMod val="60000"/>
                    <a:lumOff val="40000"/>
                    <a:alpha val="60000"/>
                  </a:schemeClr>
                </a:gs>
              </a:gsLst>
              <a:lin ang="5400000" scaled="0"/>
              <a:tileRect/>
            </a:gradFill>
          </p:grpSpPr>
          <p:sp>
            <p:nvSpPr>
              <p:cNvPr id="11" name="Freeform 32"/>
              <p:cNvSpPr/>
              <p:nvPr/>
            </p:nvSpPr>
            <p:spPr bwMode="auto">
              <a:xfrm>
                <a:off x="11483975" y="0"/>
                <a:ext cx="417513" cy="512763"/>
              </a:xfrm>
              <a:custGeom>
                <a:avLst/>
                <a:gdLst/>
                <a:ahLst/>
                <a:cxnLst/>
                <a:rect l="0" t="0" r="r" b="b"/>
                <a:pathLst>
                  <a:path w="263" h="323">
                    <a:moveTo>
                      <a:pt x="12" y="323"/>
                    </a:moveTo>
                    <a:lnTo>
                      <a:pt x="0" y="314"/>
                    </a:lnTo>
                    <a:lnTo>
                      <a:pt x="203" y="108"/>
                    </a:lnTo>
                    <a:lnTo>
                      <a:pt x="248" y="0"/>
                    </a:lnTo>
                    <a:lnTo>
                      <a:pt x="263" y="6"/>
                    </a:lnTo>
                    <a:lnTo>
                      <a:pt x="218" y="117"/>
                    </a:lnTo>
                    <a:lnTo>
                      <a:pt x="218" y="117"/>
                    </a:lnTo>
                    <a:lnTo>
                      <a:pt x="12" y="323"/>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2" name="Freeform 33"/>
              <p:cNvSpPr>
                <a:spLocks noEditPoints="1"/>
              </p:cNvSpPr>
              <p:nvPr/>
            </p:nvSpPr>
            <p:spPr bwMode="auto">
              <a:xfrm>
                <a:off x="11364912" y="474663"/>
                <a:ext cx="157163" cy="152400"/>
              </a:xfrm>
              <a:custGeom>
                <a:avLst/>
                <a:gdLst/>
                <a:ahLst/>
                <a:cxnLst/>
                <a:rect l="0" t="0" r="r" b="b"/>
                <a:pathLst>
                  <a:path w="33" h="32">
                    <a:moveTo>
                      <a:pt x="17" y="32"/>
                    </a:moveTo>
                    <a:cubicBezTo>
                      <a:pt x="13" y="32"/>
                      <a:pt x="9" y="30"/>
                      <a:pt x="6" y="27"/>
                    </a:cubicBezTo>
                    <a:cubicBezTo>
                      <a:pt x="0" y="21"/>
                      <a:pt x="0" y="11"/>
                      <a:pt x="6" y="5"/>
                    </a:cubicBezTo>
                    <a:cubicBezTo>
                      <a:pt x="9" y="2"/>
                      <a:pt x="13" y="0"/>
                      <a:pt x="17" y="0"/>
                    </a:cubicBezTo>
                    <a:cubicBezTo>
                      <a:pt x="21" y="0"/>
                      <a:pt x="25" y="2"/>
                      <a:pt x="28" y="5"/>
                    </a:cubicBezTo>
                    <a:cubicBezTo>
                      <a:pt x="31" y="8"/>
                      <a:pt x="33" y="12"/>
                      <a:pt x="33" y="16"/>
                    </a:cubicBezTo>
                    <a:cubicBezTo>
                      <a:pt x="33" y="20"/>
                      <a:pt x="31" y="24"/>
                      <a:pt x="28" y="27"/>
                    </a:cubicBezTo>
                    <a:cubicBezTo>
                      <a:pt x="25" y="30"/>
                      <a:pt x="21" y="32"/>
                      <a:pt x="17" y="32"/>
                    </a:cubicBezTo>
                    <a:close/>
                    <a:moveTo>
                      <a:pt x="17" y="4"/>
                    </a:moveTo>
                    <a:cubicBezTo>
                      <a:pt x="14" y="4"/>
                      <a:pt x="11" y="6"/>
                      <a:pt x="9" y="8"/>
                    </a:cubicBezTo>
                    <a:cubicBezTo>
                      <a:pt x="4" y="12"/>
                      <a:pt x="4" y="20"/>
                      <a:pt x="9" y="24"/>
                    </a:cubicBezTo>
                    <a:cubicBezTo>
                      <a:pt x="11" y="27"/>
                      <a:pt x="14" y="28"/>
                      <a:pt x="17" y="28"/>
                    </a:cubicBezTo>
                    <a:cubicBezTo>
                      <a:pt x="20" y="28"/>
                      <a:pt x="23" y="27"/>
                      <a:pt x="26" y="24"/>
                    </a:cubicBezTo>
                    <a:cubicBezTo>
                      <a:pt x="30" y="20"/>
                      <a:pt x="30" y="12"/>
                      <a:pt x="26" y="8"/>
                    </a:cubicBezTo>
                    <a:cubicBezTo>
                      <a:pt x="23" y="6"/>
                      <a:pt x="20"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3" name="Freeform 34"/>
              <p:cNvSpPr>
                <a:spLocks noEditPoints="1"/>
              </p:cNvSpPr>
              <p:nvPr/>
            </p:nvSpPr>
            <p:spPr bwMode="auto">
              <a:xfrm>
                <a:off x="11631612" y="1539875"/>
                <a:ext cx="188913"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4" name="Freeform 35"/>
              <p:cNvSpPr/>
              <p:nvPr/>
            </p:nvSpPr>
            <p:spPr bwMode="auto">
              <a:xfrm>
                <a:off x="11531600" y="5694363"/>
                <a:ext cx="298450" cy="1154113"/>
              </a:xfrm>
              <a:custGeom>
                <a:avLst/>
                <a:gdLst/>
                <a:ahLst/>
                <a:cxnLst/>
                <a:rect l="0" t="0" r="r" b="b"/>
                <a:pathLst>
                  <a:path w="188" h="727">
                    <a:moveTo>
                      <a:pt x="15" y="727"/>
                    </a:moveTo>
                    <a:lnTo>
                      <a:pt x="0" y="727"/>
                    </a:lnTo>
                    <a:lnTo>
                      <a:pt x="0" y="407"/>
                    </a:lnTo>
                    <a:lnTo>
                      <a:pt x="0" y="407"/>
                    </a:lnTo>
                    <a:lnTo>
                      <a:pt x="176" y="0"/>
                    </a:lnTo>
                    <a:lnTo>
                      <a:pt x="188" y="6"/>
                    </a:lnTo>
                    <a:lnTo>
                      <a:pt x="15" y="410"/>
                    </a:lnTo>
                    <a:lnTo>
                      <a:pt x="15" y="727"/>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5" name="Freeform 36"/>
              <p:cNvSpPr>
                <a:spLocks noEditPoints="1"/>
              </p:cNvSpPr>
              <p:nvPr/>
            </p:nvSpPr>
            <p:spPr bwMode="auto">
              <a:xfrm>
                <a:off x="11772900" y="5551488"/>
                <a:ext cx="157163" cy="155575"/>
              </a:xfrm>
              <a:custGeom>
                <a:avLst/>
                <a:gdLst/>
                <a:ahLst/>
                <a:cxnLst/>
                <a:rect l="0" t="0" r="r" b="b"/>
                <a:pathLst>
                  <a:path w="33" h="33">
                    <a:moveTo>
                      <a:pt x="17" y="33"/>
                    </a:moveTo>
                    <a:cubicBezTo>
                      <a:pt x="8" y="33"/>
                      <a:pt x="0" y="25"/>
                      <a:pt x="0" y="16"/>
                    </a:cubicBezTo>
                    <a:cubicBezTo>
                      <a:pt x="0" y="7"/>
                      <a:pt x="8" y="0"/>
                      <a:pt x="17" y="0"/>
                    </a:cubicBezTo>
                    <a:cubicBezTo>
                      <a:pt x="26" y="0"/>
                      <a:pt x="33" y="7"/>
                      <a:pt x="33" y="16"/>
                    </a:cubicBezTo>
                    <a:cubicBezTo>
                      <a:pt x="33" y="25"/>
                      <a:pt x="26" y="33"/>
                      <a:pt x="17" y="33"/>
                    </a:cubicBezTo>
                    <a:close/>
                    <a:moveTo>
                      <a:pt x="17" y="4"/>
                    </a:moveTo>
                    <a:cubicBezTo>
                      <a:pt x="10" y="4"/>
                      <a:pt x="4" y="9"/>
                      <a:pt x="4" y="16"/>
                    </a:cubicBezTo>
                    <a:cubicBezTo>
                      <a:pt x="4" y="23"/>
                      <a:pt x="10" y="29"/>
                      <a:pt x="17" y="29"/>
                    </a:cubicBezTo>
                    <a:cubicBezTo>
                      <a:pt x="23" y="29"/>
                      <a:pt x="29" y="23"/>
                      <a:pt x="29" y="16"/>
                    </a:cubicBezTo>
                    <a:cubicBezTo>
                      <a:pt x="29" y="9"/>
                      <a:pt x="23"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6" name="Freeform 37"/>
              <p:cNvSpPr/>
              <p:nvPr/>
            </p:nvSpPr>
            <p:spPr bwMode="auto">
              <a:xfrm>
                <a:off x="11710987" y="4763"/>
                <a:ext cx="304800" cy="1544638"/>
              </a:xfrm>
              <a:custGeom>
                <a:avLst/>
                <a:gdLst/>
                <a:ahLst/>
                <a:cxnLst/>
                <a:rect l="0" t="0" r="r" b="b"/>
                <a:pathLst>
                  <a:path w="192" h="973">
                    <a:moveTo>
                      <a:pt x="15" y="973"/>
                    </a:moveTo>
                    <a:lnTo>
                      <a:pt x="0" y="973"/>
                    </a:lnTo>
                    <a:lnTo>
                      <a:pt x="0" y="790"/>
                    </a:lnTo>
                    <a:lnTo>
                      <a:pt x="174" y="614"/>
                    </a:lnTo>
                    <a:lnTo>
                      <a:pt x="174" y="0"/>
                    </a:lnTo>
                    <a:lnTo>
                      <a:pt x="192" y="0"/>
                    </a:lnTo>
                    <a:lnTo>
                      <a:pt x="192" y="620"/>
                    </a:lnTo>
                    <a:lnTo>
                      <a:pt x="15" y="796"/>
                    </a:lnTo>
                    <a:lnTo>
                      <a:pt x="15" y="973"/>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7" name="Freeform 38"/>
              <p:cNvSpPr>
                <a:spLocks noEditPoints="1"/>
              </p:cNvSpPr>
              <p:nvPr/>
            </p:nvSpPr>
            <p:spPr bwMode="auto">
              <a:xfrm>
                <a:off x="11636375" y="4867275"/>
                <a:ext cx="188913"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8" name="Freeform 39"/>
              <p:cNvSpPr/>
              <p:nvPr/>
            </p:nvSpPr>
            <p:spPr bwMode="auto">
              <a:xfrm>
                <a:off x="11441112" y="5046663"/>
                <a:ext cx="307975" cy="1801813"/>
              </a:xfrm>
              <a:custGeom>
                <a:avLst/>
                <a:gdLst/>
                <a:ahLst/>
                <a:cxnLst/>
                <a:rect l="0" t="0" r="r" b="b"/>
                <a:pathLst>
                  <a:path w="194" h="1135">
                    <a:moveTo>
                      <a:pt x="18" y="1135"/>
                    </a:moveTo>
                    <a:lnTo>
                      <a:pt x="0" y="1135"/>
                    </a:lnTo>
                    <a:lnTo>
                      <a:pt x="0" y="354"/>
                    </a:lnTo>
                    <a:lnTo>
                      <a:pt x="176" y="177"/>
                    </a:lnTo>
                    <a:lnTo>
                      <a:pt x="176" y="0"/>
                    </a:lnTo>
                    <a:lnTo>
                      <a:pt x="194" y="0"/>
                    </a:lnTo>
                    <a:lnTo>
                      <a:pt x="194" y="183"/>
                    </a:lnTo>
                    <a:lnTo>
                      <a:pt x="18" y="360"/>
                    </a:lnTo>
                    <a:lnTo>
                      <a:pt x="18"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9" name="Freeform 40"/>
              <p:cNvSpPr>
                <a:spLocks noEditPoints="1"/>
              </p:cNvSpPr>
              <p:nvPr/>
            </p:nvSpPr>
            <p:spPr bwMode="auto">
              <a:xfrm>
                <a:off x="11849100" y="64166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0" name="Rectangle 41"/>
              <p:cNvSpPr>
                <a:spLocks noChangeArrowheads="1"/>
              </p:cNvSpPr>
              <p:nvPr/>
            </p:nvSpPr>
            <p:spPr bwMode="auto">
              <a:xfrm>
                <a:off x="11939587" y="6596063"/>
                <a:ext cx="23813" cy="252413"/>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grpSp>
      </p:grpSp>
      <p:sp>
        <p:nvSpPr>
          <p:cNvPr id="2" name="Title Placeholder 1"/>
          <p:cNvSpPr>
            <a:spLocks noGrp="1"/>
          </p:cNvSpPr>
          <p:nvPr>
            <p:ph type="title"/>
          </p:nvPr>
        </p:nvSpPr>
        <p:spPr>
          <a:xfrm>
            <a:off x="1141413" y="618518"/>
            <a:ext cx="9905998" cy="1478570"/>
          </a:xfrm>
          <a:prstGeom prst="rect">
            <a:avLst/>
          </a:prstGeom>
        </p:spPr>
        <p:txBody>
          <a:bodyPr vert="horz" lIns="91440" tIns="45720" rIns="91440" bIns="45720" rtlCol="0" anchor="ctr">
            <a:normAutofit/>
          </a:bodyPr>
          <a:lstStyle/>
          <a:p>
            <a:endParaRPr lang="en-US" dirty="0"/>
          </a:p>
        </p:txBody>
      </p:sp>
      <p:sp>
        <p:nvSpPr>
          <p:cNvPr id="3" name="Text Placeholder 2"/>
          <p:cNvSpPr>
            <a:spLocks noGrp="1"/>
          </p:cNvSpPr>
          <p:nvPr>
            <p:ph type="body" idx="1"/>
          </p:nvPr>
        </p:nvSpPr>
        <p:spPr>
          <a:xfrm>
            <a:off x="1141412" y="2249487"/>
            <a:ext cx="9905999" cy="3541714"/>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456921" y="5883276"/>
            <a:ext cx="2743200"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48A87A34-81AB-432B-8DAE-1953F412C126}" type="datetimeFigureOut">
              <a:rPr lang="en-US" dirty="0"/>
              <a:pPr/>
              <a:t>6/8/26</a:t>
            </a:fld>
            <a:endParaRPr lang="en-US" dirty="0"/>
          </a:p>
        </p:txBody>
      </p:sp>
      <p:sp>
        <p:nvSpPr>
          <p:cNvPr id="5" name="Footer Placeholder 4"/>
          <p:cNvSpPr>
            <a:spLocks noGrp="1"/>
          </p:cNvSpPr>
          <p:nvPr>
            <p:ph type="ftr" sz="quarter" idx="3"/>
          </p:nvPr>
        </p:nvSpPr>
        <p:spPr>
          <a:xfrm>
            <a:off x="1141411" y="5883275"/>
            <a:ext cx="6239309" cy="365125"/>
          </a:xfrm>
          <a:prstGeom prst="rect">
            <a:avLst/>
          </a:prstGeom>
        </p:spPr>
        <p:txBody>
          <a:bodyPr vert="horz" lIns="91440" tIns="45720" rIns="91440" bIns="45720" rtlCol="0" anchor="ctr"/>
          <a:lstStyle>
            <a:lvl1pPr algn="l">
              <a:defRPr sz="1050" cap="all" baseline="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10276321" y="5883274"/>
            <a:ext cx="771089"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6D22F896-40B5-4ADD-8801-0D06FADFA095}" type="slidenum">
              <a:rPr lang="en-US" dirty="0"/>
              <a:pPr/>
              <a:t>‹#›</a:t>
            </a:fld>
            <a:endParaRPr lang="en-US" dirty="0"/>
          </a:p>
        </p:txBody>
      </p:sp>
    </p:spTree>
  </p:cSld>
  <p:clrMap bg1="dk1" tx1="lt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60" r:id="rId10"/>
    <p:sldLayoutId id="2147483661" r:id="rId11"/>
    <p:sldLayoutId id="2147483666" r:id="rId12"/>
    <p:sldLayoutId id="2147483663" r:id="rId13"/>
    <p:sldLayoutId id="2147483667" r:id="rId14"/>
    <p:sldLayoutId id="2147483668" r:id="rId15"/>
    <p:sldLayoutId id="2147483658" r:id="rId16"/>
    <p:sldLayoutId id="2147483659" r:id="rId17"/>
  </p:sldLayoutIdLst>
  <p:txStyles>
    <p:titleStyle>
      <a:lvl1pPr algn="l" defTabSz="914400" rtl="0" eaLnBrk="1" latinLnBrk="0" hangingPunct="1">
        <a:lnSpc>
          <a:spcPct val="90000"/>
        </a:lnSpc>
        <a:spcBef>
          <a:spcPct val="0"/>
        </a:spcBef>
        <a:buNone/>
        <a:defRPr sz="3600" kern="1200" cap="all" baseline="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10.png"/><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122037-8E5A-C665-3A9B-3762953B0B6C}"/>
              </a:ext>
            </a:extLst>
          </p:cNvPr>
          <p:cNvSpPr>
            <a:spLocks noGrp="1"/>
          </p:cNvSpPr>
          <p:nvPr>
            <p:ph type="ctrTitle"/>
          </p:nvPr>
        </p:nvSpPr>
        <p:spPr/>
        <p:txBody>
          <a:bodyPr/>
          <a:lstStyle/>
          <a:p>
            <a:r>
              <a:rPr lang="en-US" dirty="0"/>
              <a:t>Reverse engineering project</a:t>
            </a:r>
          </a:p>
        </p:txBody>
      </p:sp>
      <p:sp>
        <p:nvSpPr>
          <p:cNvPr id="3" name="Subtitle 2">
            <a:extLst>
              <a:ext uri="{FF2B5EF4-FFF2-40B4-BE49-F238E27FC236}">
                <a16:creationId xmlns:a16="http://schemas.microsoft.com/office/drawing/2014/main" id="{86BD8FCE-CF7B-FDE9-6E7D-0CCD9EEE8C55}"/>
              </a:ext>
            </a:extLst>
          </p:cNvPr>
          <p:cNvSpPr>
            <a:spLocks noGrp="1"/>
          </p:cNvSpPr>
          <p:nvPr>
            <p:ph type="subTitle" idx="1"/>
          </p:nvPr>
        </p:nvSpPr>
        <p:spPr/>
        <p:txBody>
          <a:bodyPr/>
          <a:lstStyle/>
          <a:p>
            <a:r>
              <a:rPr lang="en-US" dirty="0"/>
              <a:t>Created by </a:t>
            </a:r>
            <a:r>
              <a:rPr lang="en-US" dirty="0" err="1"/>
              <a:t>kYLE</a:t>
            </a:r>
            <a:r>
              <a:rPr lang="en-US" dirty="0"/>
              <a:t> parker and </a:t>
            </a:r>
            <a:r>
              <a:rPr lang="en-US" dirty="0" err="1"/>
              <a:t>kOA</a:t>
            </a:r>
            <a:r>
              <a:rPr lang="en-US" dirty="0"/>
              <a:t> </a:t>
            </a:r>
            <a:r>
              <a:rPr lang="en-US" dirty="0" err="1"/>
              <a:t>hAWN</a:t>
            </a:r>
            <a:endParaRPr lang="en-US" dirty="0"/>
          </a:p>
          <a:p>
            <a:r>
              <a:rPr lang="en-US" dirty="0"/>
              <a:t>DUE THURSDAY, JUNE 11, 2026</a:t>
            </a:r>
          </a:p>
          <a:p>
            <a:r>
              <a:rPr lang="en-US" dirty="0"/>
              <a:t>COMP 4723 – Ethical hacking</a:t>
            </a:r>
          </a:p>
        </p:txBody>
      </p:sp>
    </p:spTree>
    <p:extLst>
      <p:ext uri="{BB962C8B-B14F-4D97-AF65-F5344CB8AC3E}">
        <p14:creationId xmlns:p14="http://schemas.microsoft.com/office/powerpoint/2010/main" val="287268927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B3FDC8-D6B9-B361-4742-A1D5BF3342AA}"/>
              </a:ext>
            </a:extLst>
          </p:cNvPr>
          <p:cNvSpPr>
            <a:spLocks noGrp="1"/>
          </p:cNvSpPr>
          <p:nvPr>
            <p:ph type="title"/>
          </p:nvPr>
        </p:nvSpPr>
        <p:spPr/>
        <p:txBody>
          <a:bodyPr/>
          <a:lstStyle/>
          <a:p>
            <a:r>
              <a:rPr lang="en-US" dirty="0"/>
              <a:t>Scope &amp; Objective</a:t>
            </a:r>
          </a:p>
        </p:txBody>
      </p:sp>
      <p:sp>
        <p:nvSpPr>
          <p:cNvPr id="3" name="Content Placeholder 2">
            <a:extLst>
              <a:ext uri="{FF2B5EF4-FFF2-40B4-BE49-F238E27FC236}">
                <a16:creationId xmlns:a16="http://schemas.microsoft.com/office/drawing/2014/main" id="{6C0D54F3-3588-80CD-BDBA-71119730F640}"/>
              </a:ext>
            </a:extLst>
          </p:cNvPr>
          <p:cNvSpPr>
            <a:spLocks noGrp="1"/>
          </p:cNvSpPr>
          <p:nvPr>
            <p:ph idx="1"/>
          </p:nvPr>
        </p:nvSpPr>
        <p:spPr/>
        <p:txBody>
          <a:bodyPr/>
          <a:lstStyle/>
          <a:p>
            <a:r>
              <a:rPr lang="en-US" dirty="0"/>
              <a:t>Recreate program’s logic/source code</a:t>
            </a:r>
          </a:p>
          <a:p>
            <a:r>
              <a:rPr lang="en-US" dirty="0"/>
              <a:t>Detect vulnerabilities and dangerous code</a:t>
            </a:r>
          </a:p>
          <a:p>
            <a:r>
              <a:rPr lang="en-US" dirty="0"/>
              <a:t>Create mitigations and demonstrate proof-of-concept exploit</a:t>
            </a:r>
          </a:p>
        </p:txBody>
      </p:sp>
    </p:spTree>
    <p:extLst>
      <p:ext uri="{BB962C8B-B14F-4D97-AF65-F5344CB8AC3E}">
        <p14:creationId xmlns:p14="http://schemas.microsoft.com/office/powerpoint/2010/main" val="157883678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9A84B1-F257-2AD8-B5E4-C0DF6C7C9C4D}"/>
              </a:ext>
            </a:extLst>
          </p:cNvPr>
          <p:cNvSpPr>
            <a:spLocks noGrp="1"/>
          </p:cNvSpPr>
          <p:nvPr>
            <p:ph type="title"/>
          </p:nvPr>
        </p:nvSpPr>
        <p:spPr/>
        <p:txBody>
          <a:bodyPr/>
          <a:lstStyle/>
          <a:p>
            <a:r>
              <a:rPr lang="en-US" dirty="0"/>
              <a:t>Tools used</a:t>
            </a:r>
          </a:p>
        </p:txBody>
      </p:sp>
      <p:sp>
        <p:nvSpPr>
          <p:cNvPr id="3" name="Content Placeholder 2">
            <a:extLst>
              <a:ext uri="{FF2B5EF4-FFF2-40B4-BE49-F238E27FC236}">
                <a16:creationId xmlns:a16="http://schemas.microsoft.com/office/drawing/2014/main" id="{B30A05B2-85BD-65B3-5BF2-519B3931AC45}"/>
              </a:ext>
            </a:extLst>
          </p:cNvPr>
          <p:cNvSpPr>
            <a:spLocks noGrp="1"/>
          </p:cNvSpPr>
          <p:nvPr>
            <p:ph idx="1"/>
          </p:nvPr>
        </p:nvSpPr>
        <p:spPr/>
        <p:txBody>
          <a:bodyPr>
            <a:normAutofit fontScale="92500" lnSpcReduction="10000"/>
          </a:bodyPr>
          <a:lstStyle/>
          <a:p>
            <a:r>
              <a:rPr lang="en-US" dirty="0" err="1"/>
              <a:t>Binwalk</a:t>
            </a:r>
            <a:endParaRPr lang="en-US" dirty="0"/>
          </a:p>
          <a:p>
            <a:pPr lvl="1"/>
            <a:r>
              <a:rPr lang="en-US" dirty="0"/>
              <a:t>No signs of encryption or obsecrated code (low entropy)</a:t>
            </a:r>
          </a:p>
          <a:p>
            <a:r>
              <a:rPr lang="en-US" dirty="0" err="1"/>
              <a:t>Ghidra</a:t>
            </a:r>
            <a:endParaRPr lang="en-US" dirty="0"/>
          </a:p>
          <a:p>
            <a:pPr lvl="1"/>
            <a:r>
              <a:rPr lang="en-US" dirty="0"/>
              <a:t>Disassembly, extract call graph, </a:t>
            </a:r>
            <a:r>
              <a:rPr lang="en-US" dirty="0" err="1"/>
              <a:t>libc</a:t>
            </a:r>
            <a:r>
              <a:rPr lang="en-US" dirty="0"/>
              <a:t> symbols, 5 orphaned functions</a:t>
            </a:r>
          </a:p>
          <a:p>
            <a:r>
              <a:rPr lang="en-US" dirty="0"/>
              <a:t>GDB</a:t>
            </a:r>
          </a:p>
          <a:p>
            <a:pPr lvl="1"/>
            <a:r>
              <a:rPr lang="en-US" dirty="0"/>
              <a:t>Inspect and run hidden functions, confirm crashes</a:t>
            </a:r>
          </a:p>
          <a:p>
            <a:r>
              <a:rPr lang="en-US" dirty="0" err="1"/>
              <a:t>Ltrace</a:t>
            </a:r>
            <a:r>
              <a:rPr lang="en-US" dirty="0"/>
              <a:t>/</a:t>
            </a:r>
            <a:r>
              <a:rPr lang="en-US" dirty="0" err="1"/>
              <a:t>strace</a:t>
            </a:r>
            <a:endParaRPr lang="en-US" dirty="0"/>
          </a:p>
          <a:p>
            <a:pPr lvl="1"/>
            <a:r>
              <a:rPr lang="en-US" dirty="0"/>
              <a:t>Dynamic tracing, identified three commands for the shell</a:t>
            </a:r>
          </a:p>
        </p:txBody>
      </p:sp>
    </p:spTree>
    <p:extLst>
      <p:ext uri="{BB962C8B-B14F-4D97-AF65-F5344CB8AC3E}">
        <p14:creationId xmlns:p14="http://schemas.microsoft.com/office/powerpoint/2010/main" val="13544321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5E73E9-4466-F72C-DEE2-8D7476809A46}"/>
              </a:ext>
            </a:extLst>
          </p:cNvPr>
          <p:cNvSpPr>
            <a:spLocks noGrp="1"/>
          </p:cNvSpPr>
          <p:nvPr>
            <p:ph type="title"/>
          </p:nvPr>
        </p:nvSpPr>
        <p:spPr/>
        <p:txBody>
          <a:bodyPr/>
          <a:lstStyle/>
          <a:p>
            <a:r>
              <a:rPr lang="en-US" dirty="0" err="1"/>
              <a:t>Binwalk</a:t>
            </a:r>
            <a:r>
              <a:rPr lang="en-US" dirty="0"/>
              <a:t> results</a:t>
            </a:r>
          </a:p>
        </p:txBody>
      </p:sp>
      <p:sp>
        <p:nvSpPr>
          <p:cNvPr id="4" name="Rectangle 1">
            <a:extLst>
              <a:ext uri="{FF2B5EF4-FFF2-40B4-BE49-F238E27FC236}">
                <a16:creationId xmlns:a16="http://schemas.microsoft.com/office/drawing/2014/main" id="{F75DB602-8950-0067-9461-A0A05C0A81C3}"/>
              </a:ext>
            </a:extLst>
          </p:cNvPr>
          <p:cNvSpPr>
            <a:spLocks noChangeArrowheads="1"/>
          </p:cNvSpPr>
          <p:nvPr/>
        </p:nvSpPr>
        <p:spPr bwMode="auto">
          <a:xfrm>
            <a:off x="0" y="0"/>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a:ln>
                  <a:noFill/>
                </a:ln>
                <a:solidFill>
                  <a:schemeClr val="tx1"/>
                </a:solidFill>
                <a:effectLst/>
                <a:latin typeface="Aptos" panose="020B0004020202020204" pitchFamily="34" charset="0"/>
                <a:ea typeface="+mn-ea"/>
                <a:cs typeface="+mn-cs"/>
              </a:rPr>
              <a:t>radare2</a:t>
            </a:r>
            <a:r>
              <a:rPr kumimoji="0" lang="en-US" altLang="en-US" sz="700" b="0" i="0" u="none" strike="noStrike" cap="none" normalizeH="0" baseline="0">
                <a:ln>
                  <a:noFill/>
                </a:ln>
                <a:solidFill>
                  <a:schemeClr val="tx1"/>
                </a:solidFill>
                <a:effectLst/>
              </a:rPr>
              <a:t> </a:t>
            </a: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9" name="TextBox 8">
            <a:extLst>
              <a:ext uri="{FF2B5EF4-FFF2-40B4-BE49-F238E27FC236}">
                <a16:creationId xmlns:a16="http://schemas.microsoft.com/office/drawing/2014/main" id="{6BD03EAD-3B94-9829-6499-08A626F3FC1F}"/>
              </a:ext>
            </a:extLst>
          </p:cNvPr>
          <p:cNvSpPr txBox="1"/>
          <p:nvPr/>
        </p:nvSpPr>
        <p:spPr>
          <a:xfrm>
            <a:off x="1141413" y="2914253"/>
            <a:ext cx="9905998" cy="3416320"/>
          </a:xfrm>
          <a:prstGeom prst="rect">
            <a:avLst/>
          </a:prstGeom>
          <a:noFill/>
        </p:spPr>
        <p:txBody>
          <a:bodyPr wrap="square">
            <a:spAutoFit/>
          </a:bodyPr>
          <a:lstStyle/>
          <a:p>
            <a:r>
              <a:rPr lang="en-US" dirty="0"/>
              <a:t>__________________________________________________________________</a:t>
            </a:r>
          </a:p>
          <a:p>
            <a:r>
              <a:rPr lang="en-US" dirty="0"/>
              <a:t>Scan Time:     2026-05-29 10:47:25</a:t>
            </a:r>
          </a:p>
          <a:p>
            <a:r>
              <a:rPr lang="en-US" dirty="0"/>
              <a:t>Target File:   target</a:t>
            </a:r>
          </a:p>
          <a:p>
            <a:r>
              <a:rPr lang="en-US" dirty="0"/>
              <a:t>MD5 Checksum:  8b5eec08f0106f2d814b5706abd8675f</a:t>
            </a:r>
          </a:p>
          <a:p>
            <a:r>
              <a:rPr lang="en-US" dirty="0"/>
              <a:t>Signatures:    436</a:t>
            </a:r>
          </a:p>
          <a:p>
            <a:endParaRPr lang="en-US" dirty="0"/>
          </a:p>
          <a:p>
            <a:r>
              <a:rPr lang="en-US" dirty="0"/>
              <a:t>DECIMAL       HEXADECIMAL     DESCRIPTION</a:t>
            </a:r>
          </a:p>
          <a:p>
            <a:r>
              <a:rPr lang="en-US" dirty="0"/>
              <a:t>--------------------------------------------------------------------------------</a:t>
            </a:r>
          </a:p>
          <a:p>
            <a:r>
              <a:rPr lang="en-US" dirty="0"/>
              <a:t>0             0x0             ELF, 64-bit LSB shared object, AMD x86-64, version 1 (SYSV)</a:t>
            </a:r>
          </a:p>
          <a:p>
            <a:r>
              <a:rPr lang="en-US" dirty="0"/>
              <a:t>14784         0x39C0          ESP Image (ESP32): segment count: 8, flash mode: QUIO, flash speed: 40MHz, flash size: 1MB, entry address: 0x4500660d, hash: none</a:t>
            </a:r>
          </a:p>
          <a:p>
            <a:r>
              <a:rPr lang="en-US" dirty="0"/>
              <a:t>17156         0x4304          Unix path: /</a:t>
            </a:r>
          </a:p>
        </p:txBody>
      </p:sp>
      <p:sp>
        <p:nvSpPr>
          <p:cNvPr id="11" name="TextBox 10">
            <a:extLst>
              <a:ext uri="{FF2B5EF4-FFF2-40B4-BE49-F238E27FC236}">
                <a16:creationId xmlns:a16="http://schemas.microsoft.com/office/drawing/2014/main" id="{D84EC004-4601-9748-BEED-0B99954C8290}"/>
              </a:ext>
            </a:extLst>
          </p:cNvPr>
          <p:cNvSpPr txBox="1"/>
          <p:nvPr/>
        </p:nvSpPr>
        <p:spPr>
          <a:xfrm>
            <a:off x="1141413" y="1669897"/>
            <a:ext cx="7725496" cy="1200329"/>
          </a:xfrm>
          <a:prstGeom prst="rect">
            <a:avLst/>
          </a:prstGeom>
          <a:noFill/>
        </p:spPr>
        <p:txBody>
          <a:bodyPr wrap="square">
            <a:spAutoFit/>
          </a:bodyPr>
          <a:lstStyle/>
          <a:p>
            <a:endParaRPr lang="en-US" dirty="0"/>
          </a:p>
          <a:p>
            <a:r>
              <a:rPr lang="en-US" dirty="0"/>
              <a:t>DECIMAL       HEXADECIMAL     ENTROPY</a:t>
            </a:r>
          </a:p>
          <a:p>
            <a:r>
              <a:rPr lang="en-US" dirty="0"/>
              <a:t>--------------------------------------------------------------------------------</a:t>
            </a:r>
          </a:p>
          <a:p>
            <a:r>
              <a:rPr lang="en-US" dirty="0"/>
              <a:t>0             0x0             Falling entropy edge (0.283684)</a:t>
            </a:r>
          </a:p>
        </p:txBody>
      </p:sp>
      <p:pic>
        <p:nvPicPr>
          <p:cNvPr id="6" name="Content Placeholder 5" descr="A graph with yellow lines&#10;&#10;AI-generated content may be incorrect.">
            <a:extLst>
              <a:ext uri="{FF2B5EF4-FFF2-40B4-BE49-F238E27FC236}">
                <a16:creationId xmlns:a16="http://schemas.microsoft.com/office/drawing/2014/main" id="{FFF4717B-9F99-0821-5DB9-F9856DD81DAC}"/>
              </a:ext>
            </a:extLst>
          </p:cNvPr>
          <p:cNvPicPr>
            <a:picLocks noGrp="1" noChangeAspect="1"/>
          </p:cNvPicPr>
          <p:nvPr>
            <p:ph idx="1"/>
          </p:nvPr>
        </p:nvPicPr>
        <p:blipFill>
          <a:blip r:embed="rId3"/>
          <a:stretch>
            <a:fillRect/>
          </a:stretch>
        </p:blipFill>
        <p:spPr>
          <a:xfrm>
            <a:off x="6764765" y="-1"/>
            <a:ext cx="5427235" cy="4336467"/>
          </a:xfrm>
        </p:spPr>
      </p:pic>
    </p:spTree>
    <p:extLst>
      <p:ext uri="{BB962C8B-B14F-4D97-AF65-F5344CB8AC3E}">
        <p14:creationId xmlns:p14="http://schemas.microsoft.com/office/powerpoint/2010/main" val="205334584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C6FBCB-698E-2CCA-EE40-8582BD212C25}"/>
              </a:ext>
            </a:extLst>
          </p:cNvPr>
          <p:cNvSpPr>
            <a:spLocks noGrp="1"/>
          </p:cNvSpPr>
          <p:nvPr>
            <p:ph type="title"/>
          </p:nvPr>
        </p:nvSpPr>
        <p:spPr/>
        <p:txBody>
          <a:bodyPr/>
          <a:lstStyle/>
          <a:p>
            <a:r>
              <a:rPr lang="en-US" dirty="0" err="1"/>
              <a:t>Ghidra</a:t>
            </a:r>
            <a:endParaRPr lang="en-US" dirty="0"/>
          </a:p>
        </p:txBody>
      </p:sp>
      <p:sp>
        <p:nvSpPr>
          <p:cNvPr id="3" name="Content Placeholder 2">
            <a:extLst>
              <a:ext uri="{FF2B5EF4-FFF2-40B4-BE49-F238E27FC236}">
                <a16:creationId xmlns:a16="http://schemas.microsoft.com/office/drawing/2014/main" id="{1EF0908A-B6EB-6F8F-E333-AC8E85AA07C6}"/>
              </a:ext>
            </a:extLst>
          </p:cNvPr>
          <p:cNvSpPr>
            <a:spLocks noGrp="1"/>
          </p:cNvSpPr>
          <p:nvPr>
            <p:ph idx="1"/>
          </p:nvPr>
        </p:nvSpPr>
        <p:spPr>
          <a:xfrm>
            <a:off x="1141413" y="2249487"/>
            <a:ext cx="6135688" cy="3541714"/>
          </a:xfrm>
        </p:spPr>
        <p:txBody>
          <a:bodyPr/>
          <a:lstStyle/>
          <a:p>
            <a:r>
              <a:rPr lang="en-US" dirty="0"/>
              <a:t>Generated C code from the program’s binary</a:t>
            </a:r>
          </a:p>
          <a:p>
            <a:r>
              <a:rPr lang="en-US" dirty="0"/>
              <a:t>Resolved function calls (system and user-defined)</a:t>
            </a:r>
          </a:p>
          <a:p>
            <a:r>
              <a:rPr lang="en-US" dirty="0"/>
              <a:t>Revealed 5 unreferenced functions</a:t>
            </a:r>
          </a:p>
          <a:p>
            <a:r>
              <a:rPr lang="en-US" dirty="0"/>
              <a:t>Saved a lot of manual work</a:t>
            </a:r>
          </a:p>
          <a:p>
            <a:endParaRPr lang="en-US" dirty="0"/>
          </a:p>
        </p:txBody>
      </p:sp>
      <p:pic>
        <p:nvPicPr>
          <p:cNvPr id="5" name="Picture 4" descr="A screen shot of a computer code&#10;&#10;AI-generated content may be incorrect.">
            <a:extLst>
              <a:ext uri="{FF2B5EF4-FFF2-40B4-BE49-F238E27FC236}">
                <a16:creationId xmlns:a16="http://schemas.microsoft.com/office/drawing/2014/main" id="{78838C95-3726-26E7-BBCD-3BC2BB7C8159}"/>
              </a:ext>
            </a:extLst>
          </p:cNvPr>
          <p:cNvPicPr>
            <a:picLocks noChangeAspect="1"/>
          </p:cNvPicPr>
          <p:nvPr/>
        </p:nvPicPr>
        <p:blipFill>
          <a:blip r:embed="rId3"/>
          <a:stretch>
            <a:fillRect/>
          </a:stretch>
        </p:blipFill>
        <p:spPr>
          <a:xfrm>
            <a:off x="7277100" y="1371600"/>
            <a:ext cx="4914900" cy="4114800"/>
          </a:xfrm>
          <a:prstGeom prst="rect">
            <a:avLst/>
          </a:prstGeom>
        </p:spPr>
      </p:pic>
    </p:spTree>
    <p:extLst>
      <p:ext uri="{BB962C8B-B14F-4D97-AF65-F5344CB8AC3E}">
        <p14:creationId xmlns:p14="http://schemas.microsoft.com/office/powerpoint/2010/main" val="138787206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98ABB3-D96C-FF02-A50F-B811AE1FC2B1}"/>
              </a:ext>
            </a:extLst>
          </p:cNvPr>
          <p:cNvSpPr>
            <a:spLocks noGrp="1"/>
          </p:cNvSpPr>
          <p:nvPr>
            <p:ph type="title"/>
          </p:nvPr>
        </p:nvSpPr>
        <p:spPr/>
        <p:txBody>
          <a:bodyPr/>
          <a:lstStyle/>
          <a:p>
            <a:r>
              <a:rPr lang="en-US" dirty="0" err="1"/>
              <a:t>Ghidra</a:t>
            </a:r>
            <a:r>
              <a:rPr lang="en-US" dirty="0"/>
              <a:t> Config</a:t>
            </a:r>
          </a:p>
        </p:txBody>
      </p:sp>
      <p:pic>
        <p:nvPicPr>
          <p:cNvPr id="5" name="Content Placeholder 4" descr="A screenshot of a computer&#10;&#10;AI-generated content may be incorrect.">
            <a:extLst>
              <a:ext uri="{FF2B5EF4-FFF2-40B4-BE49-F238E27FC236}">
                <a16:creationId xmlns:a16="http://schemas.microsoft.com/office/drawing/2014/main" id="{F9D6A79F-9A96-36DE-BC0B-42DF0B95F640}"/>
              </a:ext>
            </a:extLst>
          </p:cNvPr>
          <p:cNvPicPr>
            <a:picLocks noGrp="1" noChangeAspect="1"/>
          </p:cNvPicPr>
          <p:nvPr>
            <p:ph idx="1"/>
          </p:nvPr>
        </p:nvPicPr>
        <p:blipFill>
          <a:blip r:embed="rId3"/>
          <a:stretch>
            <a:fillRect/>
          </a:stretch>
        </p:blipFill>
        <p:spPr>
          <a:xfrm>
            <a:off x="5613991" y="0"/>
            <a:ext cx="6578009" cy="6867442"/>
          </a:xfrm>
        </p:spPr>
      </p:pic>
    </p:spTree>
    <p:extLst>
      <p:ext uri="{BB962C8B-B14F-4D97-AF65-F5344CB8AC3E}">
        <p14:creationId xmlns:p14="http://schemas.microsoft.com/office/powerpoint/2010/main" val="293641920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1B2A07-F5CC-C353-C455-E9745B096B3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15F0689-4D57-A2C2-0B53-2CFEFE3094B8}"/>
              </a:ext>
            </a:extLst>
          </p:cNvPr>
          <p:cNvSpPr>
            <a:spLocks noGrp="1"/>
          </p:cNvSpPr>
          <p:nvPr>
            <p:ph type="title"/>
          </p:nvPr>
        </p:nvSpPr>
        <p:spPr/>
        <p:txBody>
          <a:bodyPr/>
          <a:lstStyle/>
          <a:p>
            <a:r>
              <a:rPr lang="en-US" dirty="0" err="1"/>
              <a:t>Ghidra</a:t>
            </a:r>
            <a:r>
              <a:rPr lang="en-US" dirty="0"/>
              <a:t> Import summary</a:t>
            </a:r>
          </a:p>
        </p:txBody>
      </p:sp>
      <p:pic>
        <p:nvPicPr>
          <p:cNvPr id="7" name="Content Placeholder 6" descr="A screenshot of a computer&#10;&#10;AI-generated content may be incorrect.">
            <a:extLst>
              <a:ext uri="{FF2B5EF4-FFF2-40B4-BE49-F238E27FC236}">
                <a16:creationId xmlns:a16="http://schemas.microsoft.com/office/drawing/2014/main" id="{6AC5C89E-0935-FF3B-BE4D-F85FD0C4701C}"/>
              </a:ext>
            </a:extLst>
          </p:cNvPr>
          <p:cNvPicPr>
            <a:picLocks noGrp="1" noChangeAspect="1"/>
          </p:cNvPicPr>
          <p:nvPr>
            <p:ph idx="1"/>
          </p:nvPr>
        </p:nvPicPr>
        <p:blipFill>
          <a:blip r:embed="rId3"/>
          <a:stretch>
            <a:fillRect/>
          </a:stretch>
        </p:blipFill>
        <p:spPr>
          <a:xfrm>
            <a:off x="1682620" y="1658144"/>
            <a:ext cx="8826759" cy="4799550"/>
          </a:xfrm>
        </p:spPr>
      </p:pic>
      <p:pic>
        <p:nvPicPr>
          <p:cNvPr id="9" name="Picture 8">
            <a:extLst>
              <a:ext uri="{FF2B5EF4-FFF2-40B4-BE49-F238E27FC236}">
                <a16:creationId xmlns:a16="http://schemas.microsoft.com/office/drawing/2014/main" id="{D5247BA5-A71F-F62C-CCAD-7E9000C050AE}"/>
              </a:ext>
            </a:extLst>
          </p:cNvPr>
          <p:cNvPicPr>
            <a:picLocks noChangeAspect="1"/>
          </p:cNvPicPr>
          <p:nvPr/>
        </p:nvPicPr>
        <p:blipFill>
          <a:blip r:embed="rId4"/>
          <a:srcRect t="90794"/>
          <a:stretch>
            <a:fillRect/>
          </a:stretch>
        </p:blipFill>
        <p:spPr>
          <a:xfrm>
            <a:off x="1682620" y="6311610"/>
            <a:ext cx="8826758" cy="441839"/>
          </a:xfrm>
          <a:prstGeom prst="rect">
            <a:avLst/>
          </a:prstGeom>
        </p:spPr>
      </p:pic>
    </p:spTree>
    <p:extLst>
      <p:ext uri="{BB962C8B-B14F-4D97-AF65-F5344CB8AC3E}">
        <p14:creationId xmlns:p14="http://schemas.microsoft.com/office/powerpoint/2010/main" val="124323444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23F16B-7107-B9CD-F08B-0C3569A1E74A}"/>
              </a:ext>
            </a:extLst>
          </p:cNvPr>
          <p:cNvSpPr>
            <a:spLocks noGrp="1"/>
          </p:cNvSpPr>
          <p:nvPr>
            <p:ph type="title"/>
          </p:nvPr>
        </p:nvSpPr>
        <p:spPr/>
        <p:txBody>
          <a:bodyPr/>
          <a:lstStyle/>
          <a:p>
            <a:r>
              <a:rPr lang="en-US" dirty="0" err="1"/>
              <a:t>Ghidra</a:t>
            </a:r>
            <a:r>
              <a:rPr lang="en-US" dirty="0"/>
              <a:t> (DETAILED Graphs)</a:t>
            </a:r>
          </a:p>
        </p:txBody>
      </p:sp>
      <p:pic>
        <p:nvPicPr>
          <p:cNvPr id="5" name="Content Placeholder 4">
            <a:extLst>
              <a:ext uri="{FF2B5EF4-FFF2-40B4-BE49-F238E27FC236}">
                <a16:creationId xmlns:a16="http://schemas.microsoft.com/office/drawing/2014/main" id="{3C492EA6-8F33-02E2-18AD-470EF7A7FEED}"/>
              </a:ext>
            </a:extLst>
          </p:cNvPr>
          <p:cNvPicPr>
            <a:picLocks noGrp="1" noChangeAspect="1"/>
          </p:cNvPicPr>
          <p:nvPr>
            <p:ph idx="1"/>
          </p:nvPr>
        </p:nvPicPr>
        <p:blipFill>
          <a:blip r:embed="rId3"/>
          <a:stretch>
            <a:fillRect/>
          </a:stretch>
        </p:blipFill>
        <p:spPr>
          <a:xfrm>
            <a:off x="3498" y="2604248"/>
            <a:ext cx="12188502" cy="2385473"/>
          </a:xfrm>
        </p:spPr>
      </p:pic>
    </p:spTree>
    <p:extLst>
      <p:ext uri="{BB962C8B-B14F-4D97-AF65-F5344CB8AC3E}">
        <p14:creationId xmlns:p14="http://schemas.microsoft.com/office/powerpoint/2010/main" val="151342979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A770F6-B8C2-3A8C-2F65-39692F1D0A24}"/>
              </a:ext>
            </a:extLst>
          </p:cNvPr>
          <p:cNvSpPr>
            <a:spLocks noGrp="1"/>
          </p:cNvSpPr>
          <p:nvPr>
            <p:ph type="title"/>
          </p:nvPr>
        </p:nvSpPr>
        <p:spPr/>
        <p:txBody>
          <a:bodyPr/>
          <a:lstStyle/>
          <a:p>
            <a:r>
              <a:rPr lang="en-US" dirty="0" err="1"/>
              <a:t>Ghidra</a:t>
            </a:r>
            <a:r>
              <a:rPr lang="en-US" dirty="0"/>
              <a:t> (call graph)</a:t>
            </a:r>
          </a:p>
        </p:txBody>
      </p:sp>
      <p:pic>
        <p:nvPicPr>
          <p:cNvPr id="9" name="Content Placeholder 8" descr="A screenshot of a computer&#10;&#10;AI-generated content may be incorrect.">
            <a:extLst>
              <a:ext uri="{FF2B5EF4-FFF2-40B4-BE49-F238E27FC236}">
                <a16:creationId xmlns:a16="http://schemas.microsoft.com/office/drawing/2014/main" id="{881369B4-A014-BFAF-82AC-AD7444515335}"/>
              </a:ext>
            </a:extLst>
          </p:cNvPr>
          <p:cNvPicPr>
            <a:picLocks noGrp="1" noChangeAspect="1"/>
          </p:cNvPicPr>
          <p:nvPr>
            <p:ph idx="1"/>
          </p:nvPr>
        </p:nvPicPr>
        <p:blipFill>
          <a:blip r:embed="rId3"/>
          <a:stretch>
            <a:fillRect/>
          </a:stretch>
        </p:blipFill>
        <p:spPr>
          <a:xfrm>
            <a:off x="0" y="2892056"/>
            <a:ext cx="12249517" cy="1894190"/>
          </a:xfrm>
        </p:spPr>
      </p:pic>
    </p:spTree>
    <p:extLst>
      <p:ext uri="{BB962C8B-B14F-4D97-AF65-F5344CB8AC3E}">
        <p14:creationId xmlns:p14="http://schemas.microsoft.com/office/powerpoint/2010/main" val="128748349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blipFill>
          <a:blip r:embed="rId3">
            <a:duotone>
              <a:schemeClr val="bg2">
                <a:shade val="88000"/>
                <a:hueMod val="106000"/>
                <a:satMod val="140000"/>
                <a:lumMod val="54000"/>
              </a:schemeClr>
              <a:schemeClr val="bg2">
                <a:tint val="98000"/>
                <a:hueMod val="90000"/>
                <a:satMod val="150000"/>
                <a:lumMod val="160000"/>
              </a:schemeClr>
            </a:duotone>
          </a:blip>
          <a:stretch/>
        </a:blip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C2E4E997-8672-4FFD-B8EC-9932A8E4714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003">
            <a:schemeClr val="dk2"/>
          </a:fillRef>
          <a:effectRef idx="0">
            <a:schemeClr val="accent1"/>
          </a:effectRef>
          <a:fontRef idx="minor">
            <a:schemeClr val="lt1"/>
          </a:fontRef>
        </p:style>
        <p:txBody>
          <a:bodyPr rtlCol="0" anchor="ctr"/>
          <a:lstStyle/>
          <a:p>
            <a:pPr algn="ctr"/>
            <a:endParaRPr lang="en-US"/>
          </a:p>
        </p:txBody>
      </p:sp>
      <p:pic>
        <p:nvPicPr>
          <p:cNvPr id="14" name="Picture 2">
            <a:extLst>
              <a:ext uri="{FF2B5EF4-FFF2-40B4-BE49-F238E27FC236}">
                <a16:creationId xmlns:a16="http://schemas.microsoft.com/office/drawing/2014/main" id="{FE6BA9E6-1D9E-4D30-B528-D49FA1342E4E}"/>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alphaModFix amt="30000"/>
            <a:extLst>
              <a:ext uri="{28A0092B-C50C-407E-A947-70E740481C1C}">
                <a14:useLocalDpi xmlns:a14="http://schemas.microsoft.com/office/drawing/2010/main" val="0"/>
              </a:ext>
            </a:extLst>
          </a:blip>
          <a:srcRect/>
          <a:stretch>
            <a:fillRect/>
          </a:stretch>
        </p:blipFill>
        <p:spPr bwMode="auto">
          <a:xfrm>
            <a:off x="0" y="0"/>
            <a:ext cx="12192003" cy="6858001"/>
          </a:xfrm>
          <a:prstGeom prst="rect">
            <a:avLst/>
          </a:prstGeom>
          <a:noFill/>
          <a:extLst>
            <a:ext uri="{909E8E84-426E-40dd-AFC4-6F175D3DCCD1}">
              <a14:hiddenFill xmlns="" xmlns:a16="http://schemas.microsoft.com/office/drawing/2014/main" xmlns:p14="http://schemas.microsoft.com/office/powerpoint/2010/main"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940C46A1-CA8D-F897-C820-86A6D3BDE9FD}"/>
              </a:ext>
            </a:extLst>
          </p:cNvPr>
          <p:cNvSpPr>
            <a:spLocks noGrp="1"/>
          </p:cNvSpPr>
          <p:nvPr>
            <p:ph type="title"/>
          </p:nvPr>
        </p:nvSpPr>
        <p:spPr>
          <a:xfrm>
            <a:off x="1141413" y="618518"/>
            <a:ext cx="4459286" cy="1478570"/>
          </a:xfrm>
        </p:spPr>
        <p:txBody>
          <a:bodyPr>
            <a:normAutofit/>
          </a:bodyPr>
          <a:lstStyle/>
          <a:p>
            <a:r>
              <a:rPr lang="en-US" sz="3200"/>
              <a:t>Ghidra (ASM Main call graph)</a:t>
            </a:r>
          </a:p>
        </p:txBody>
      </p:sp>
      <p:sp>
        <p:nvSpPr>
          <p:cNvPr id="9" name="Content Placeholder 8">
            <a:extLst>
              <a:ext uri="{FF2B5EF4-FFF2-40B4-BE49-F238E27FC236}">
                <a16:creationId xmlns:a16="http://schemas.microsoft.com/office/drawing/2014/main" id="{87149FE3-C72F-4063-6695-FB1A022CDF77}"/>
              </a:ext>
            </a:extLst>
          </p:cNvPr>
          <p:cNvSpPr>
            <a:spLocks noGrp="1"/>
          </p:cNvSpPr>
          <p:nvPr>
            <p:ph idx="1"/>
          </p:nvPr>
        </p:nvSpPr>
        <p:spPr>
          <a:xfrm>
            <a:off x="1141412" y="2249487"/>
            <a:ext cx="4459287" cy="3965046"/>
          </a:xfrm>
        </p:spPr>
        <p:txBody>
          <a:bodyPr>
            <a:normAutofit/>
          </a:bodyPr>
          <a:lstStyle/>
          <a:p>
            <a:endParaRPr lang="en-US" sz="2000"/>
          </a:p>
        </p:txBody>
      </p:sp>
      <p:pic>
        <p:nvPicPr>
          <p:cNvPr id="5" name="Content Placeholder 4" descr="A screenshot of a computer&#10;&#10;AI-generated content may be incorrect.">
            <a:extLst>
              <a:ext uri="{FF2B5EF4-FFF2-40B4-BE49-F238E27FC236}">
                <a16:creationId xmlns:a16="http://schemas.microsoft.com/office/drawing/2014/main" id="{89ADAF6A-5070-4416-B923-4BC166002E85}"/>
              </a:ext>
            </a:extLst>
          </p:cNvPr>
          <p:cNvPicPr>
            <a:picLocks noChangeAspect="1"/>
          </p:cNvPicPr>
          <p:nvPr/>
        </p:nvPicPr>
        <p:blipFill>
          <a:blip r:embed="rId5"/>
          <a:stretch>
            <a:fillRect/>
          </a:stretch>
        </p:blipFill>
        <p:spPr>
          <a:xfrm>
            <a:off x="5491496" y="24521"/>
            <a:ext cx="6738604" cy="6858631"/>
          </a:xfrm>
          <a:prstGeom prst="round2DiagRect">
            <a:avLst>
              <a:gd name="adj1" fmla="val 0"/>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pic>
      <p:grpSp>
        <p:nvGrpSpPr>
          <p:cNvPr id="16" name="Group 15">
            <a:extLst>
              <a:ext uri="{FF2B5EF4-FFF2-40B4-BE49-F238E27FC236}">
                <a16:creationId xmlns:a16="http://schemas.microsoft.com/office/drawing/2014/main" id="{453E4DEE-E996-40F8-8635-0FF43D7348F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1220788" cy="6858001"/>
            <a:chOff x="-14288" y="0"/>
            <a:chExt cx="1220788" cy="6858001"/>
          </a:xfrm>
          <a:gradFill flip="none" rotWithShape="1">
            <a:gsLst>
              <a:gs pos="0">
                <a:schemeClr val="tx2"/>
              </a:gs>
              <a:gs pos="100000">
                <a:schemeClr val="bg2">
                  <a:lumMod val="60000"/>
                  <a:lumOff val="40000"/>
                </a:schemeClr>
              </a:gs>
            </a:gsLst>
            <a:lin ang="5400000" scaled="0"/>
            <a:tileRect/>
          </a:gradFill>
        </p:grpSpPr>
        <p:sp>
          <p:nvSpPr>
            <p:cNvPr id="17" name="Rectangle 5">
              <a:extLst>
                <a:ext uri="{FF2B5EF4-FFF2-40B4-BE49-F238E27FC236}">
                  <a16:creationId xmlns:a16="http://schemas.microsoft.com/office/drawing/2014/main" id="{08BD1D3E-43CE-49EB-A424-0738950C6424}"/>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4300" y="4763"/>
              <a:ext cx="23813" cy="2181225"/>
            </a:xfrm>
            <a:prstGeom prst="rect">
              <a:avLst/>
            </a:pr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miter lim="800000"/>
                  <a:headEnd/>
                  <a:tailEnd/>
                </a14:hiddenLine>
              </a:ext>
            </a:extLst>
          </p:spPr>
          <p:txBody>
            <a:bodyPr/>
            <a:lstStyle/>
            <a:p>
              <a:endParaRPr lang="en-US"/>
            </a:p>
          </p:txBody>
        </p:sp>
        <p:sp>
          <p:nvSpPr>
            <p:cNvPr id="18" name="Freeform 6">
              <a:extLst>
                <a:ext uri="{FF2B5EF4-FFF2-40B4-BE49-F238E27FC236}">
                  <a16:creationId xmlns:a16="http://schemas.microsoft.com/office/drawing/2014/main" id="{E9182037-E3FA-489A-95D5-29E4248420D8}"/>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en-US"/>
            </a:p>
          </p:txBody>
        </p:sp>
        <p:sp>
          <p:nvSpPr>
            <p:cNvPr id="19" name="Freeform 7">
              <a:extLst>
                <a:ext uri="{FF2B5EF4-FFF2-40B4-BE49-F238E27FC236}">
                  <a16:creationId xmlns:a16="http://schemas.microsoft.com/office/drawing/2014/main" id="{E8864E76-AD7F-4BEE-B3F6-A78FA42AEFAC}"/>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en-US"/>
            </a:p>
          </p:txBody>
        </p:sp>
        <p:sp>
          <p:nvSpPr>
            <p:cNvPr id="20" name="Freeform 8">
              <a:extLst>
                <a:ext uri="{FF2B5EF4-FFF2-40B4-BE49-F238E27FC236}">
                  <a16:creationId xmlns:a16="http://schemas.microsoft.com/office/drawing/2014/main" id="{8AD071B3-046D-4479-91FE-01E9AD7C8A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en-US"/>
            </a:p>
          </p:txBody>
        </p:sp>
        <p:sp>
          <p:nvSpPr>
            <p:cNvPr id="21" name="Freeform 9">
              <a:extLst>
                <a:ext uri="{FF2B5EF4-FFF2-40B4-BE49-F238E27FC236}">
                  <a16:creationId xmlns:a16="http://schemas.microsoft.com/office/drawing/2014/main" id="{91D776F5-E902-4A4D-A75D-A46E063C9F38}"/>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en-US"/>
            </a:p>
          </p:txBody>
        </p:sp>
        <p:sp>
          <p:nvSpPr>
            <p:cNvPr id="22" name="Freeform 10">
              <a:extLst>
                <a:ext uri="{FF2B5EF4-FFF2-40B4-BE49-F238E27FC236}">
                  <a16:creationId xmlns:a16="http://schemas.microsoft.com/office/drawing/2014/main" id="{EBED8F24-A998-4952-AB68-E2074F0746F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en-US"/>
            </a:p>
          </p:txBody>
        </p:sp>
        <p:sp>
          <p:nvSpPr>
            <p:cNvPr id="23" name="Freeform 11">
              <a:extLst>
                <a:ext uri="{FF2B5EF4-FFF2-40B4-BE49-F238E27FC236}">
                  <a16:creationId xmlns:a16="http://schemas.microsoft.com/office/drawing/2014/main" id="{74D7A646-8CDC-49B3-9C44-3EF38DB4264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en-US"/>
            </a:p>
          </p:txBody>
        </p:sp>
        <p:sp>
          <p:nvSpPr>
            <p:cNvPr id="24" name="Freeform 12">
              <a:extLst>
                <a:ext uri="{FF2B5EF4-FFF2-40B4-BE49-F238E27FC236}">
                  <a16:creationId xmlns:a16="http://schemas.microsoft.com/office/drawing/2014/main" id="{D4E99D14-E4F4-419B-9AAF-8D1CEAB28A2D}"/>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en-US"/>
            </a:p>
          </p:txBody>
        </p:sp>
        <p:sp>
          <p:nvSpPr>
            <p:cNvPr id="25" name="Freeform 13">
              <a:extLst>
                <a:ext uri="{FF2B5EF4-FFF2-40B4-BE49-F238E27FC236}">
                  <a16:creationId xmlns:a16="http://schemas.microsoft.com/office/drawing/2014/main" id="{377E106C-5445-4A52-9F7E-DA1738744291}"/>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en-US"/>
            </a:p>
          </p:txBody>
        </p:sp>
        <p:sp>
          <p:nvSpPr>
            <p:cNvPr id="26" name="Freeform 14">
              <a:extLst>
                <a:ext uri="{FF2B5EF4-FFF2-40B4-BE49-F238E27FC236}">
                  <a16:creationId xmlns:a16="http://schemas.microsoft.com/office/drawing/2014/main" id="{752BFE96-D378-4BAE-A64B-F851A34C47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en-US"/>
            </a:p>
          </p:txBody>
        </p:sp>
        <p:sp>
          <p:nvSpPr>
            <p:cNvPr id="27" name="Freeform 15">
              <a:extLst>
                <a:ext uri="{FF2B5EF4-FFF2-40B4-BE49-F238E27FC236}">
                  <a16:creationId xmlns:a16="http://schemas.microsoft.com/office/drawing/2014/main" id="{B88FFB19-5A5E-4078-B467-9D4ABD21BD9A}"/>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en-US"/>
            </a:p>
          </p:txBody>
        </p:sp>
        <p:sp>
          <p:nvSpPr>
            <p:cNvPr id="28" name="Line 16">
              <a:extLst>
                <a:ext uri="{FF2B5EF4-FFF2-40B4-BE49-F238E27FC236}">
                  <a16:creationId xmlns:a16="http://schemas.microsoft.com/office/drawing/2014/main" id="{11042975-3D19-4728-BCDA-D3F5CD633EDB}"/>
                </a:ext>
                <a:ext uri="{C183D7F6-B498-43B3-948B-1728B52AA6E4}">
                  <adec:decorative xmlns:adec="http://schemas.microsoft.com/office/drawing/2017/decorative" val="1"/>
                </a:ext>
              </a:extLst>
            </p:cNvPr>
            <p:cNvSpPr>
              <a:spLocks noChangeShapeType="1"/>
            </p:cNvSpPr>
            <p:nvPr>
              <p:extLst>
                <p:ext uri="{386F3935-93C4-4BCD-93E2-E3B085C9AB24}">
                  <p16:designElem xmlns:p16="http://schemas.microsoft.com/office/powerpoint/2015/main" val="1"/>
                </p:ext>
              </p:extLst>
            </p:nvPr>
          </p:nvSpPr>
          <p:spPr bwMode="auto">
            <a:xfrm>
              <a:off x="-4763" y="9525"/>
              <a:ext cx="0" cy="0"/>
            </a:xfrm>
            <a:prstGeom prst="line">
              <a:avLst/>
            </a:prstGeom>
            <a:grpFill/>
            <a:ln w="15" cap="flat">
              <a:solidFill>
                <a:srgbClr val="FFFFFF"/>
              </a:solidFill>
              <a:prstDash val="solid"/>
              <a:miter lim="800000"/>
              <a:headEnd/>
              <a:tailEnd/>
            </a:ln>
          </p:spPr>
          <p:txBody>
            <a:bodyPr/>
            <a:lstStyle/>
            <a:p>
              <a:endParaRPr lang="en-US"/>
            </a:p>
          </p:txBody>
        </p:sp>
        <p:sp>
          <p:nvSpPr>
            <p:cNvPr id="29" name="Freeform 17">
              <a:extLst>
                <a:ext uri="{FF2B5EF4-FFF2-40B4-BE49-F238E27FC236}">
                  <a16:creationId xmlns:a16="http://schemas.microsoft.com/office/drawing/2014/main" id="{A28972BD-D2E1-4DCA-A907-2E3B6F60664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en-US"/>
            </a:p>
          </p:txBody>
        </p:sp>
        <p:sp>
          <p:nvSpPr>
            <p:cNvPr id="30" name="Freeform 18">
              <a:extLst>
                <a:ext uri="{FF2B5EF4-FFF2-40B4-BE49-F238E27FC236}">
                  <a16:creationId xmlns:a16="http://schemas.microsoft.com/office/drawing/2014/main" id="{1C806824-5C2D-4747-B038-69EE4074B36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en-US"/>
            </a:p>
          </p:txBody>
        </p:sp>
        <p:sp>
          <p:nvSpPr>
            <p:cNvPr id="31" name="Freeform 19">
              <a:extLst>
                <a:ext uri="{FF2B5EF4-FFF2-40B4-BE49-F238E27FC236}">
                  <a16:creationId xmlns:a16="http://schemas.microsoft.com/office/drawing/2014/main" id="{3B33F710-16D7-4F48-BFCA-66C9CA2352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en-US"/>
            </a:p>
          </p:txBody>
        </p:sp>
        <p:sp>
          <p:nvSpPr>
            <p:cNvPr id="32" name="Freeform 20">
              <a:extLst>
                <a:ext uri="{FF2B5EF4-FFF2-40B4-BE49-F238E27FC236}">
                  <a16:creationId xmlns:a16="http://schemas.microsoft.com/office/drawing/2014/main" id="{6C8C8ED4-90FA-4E97-AAF0-D5D51E6A935E}"/>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en-US"/>
            </a:p>
          </p:txBody>
        </p:sp>
        <p:sp>
          <p:nvSpPr>
            <p:cNvPr id="33" name="Rectangle 21">
              <a:extLst>
                <a:ext uri="{FF2B5EF4-FFF2-40B4-BE49-F238E27FC236}">
                  <a16:creationId xmlns:a16="http://schemas.microsoft.com/office/drawing/2014/main" id="{6C5EB9C1-B25F-4172-8A96-5950ECC828FC}"/>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33350" y="4662488"/>
              <a:ext cx="23813" cy="2181225"/>
            </a:xfrm>
            <a:prstGeom prst="rect">
              <a:avLst/>
            </a:pr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miter lim="800000"/>
                  <a:headEnd/>
                  <a:tailEnd/>
                </a14:hiddenLine>
              </a:ext>
            </a:extLst>
          </p:spPr>
          <p:txBody>
            <a:bodyPr/>
            <a:lstStyle/>
            <a:p>
              <a:endParaRPr lang="en-US"/>
            </a:p>
          </p:txBody>
        </p:sp>
        <p:sp>
          <p:nvSpPr>
            <p:cNvPr id="34" name="Freeform 22">
              <a:extLst>
                <a:ext uri="{FF2B5EF4-FFF2-40B4-BE49-F238E27FC236}">
                  <a16:creationId xmlns:a16="http://schemas.microsoft.com/office/drawing/2014/main" id="{097E6E8A-9373-4655-882B-21715CCE97E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en-US"/>
            </a:p>
          </p:txBody>
        </p:sp>
        <p:sp>
          <p:nvSpPr>
            <p:cNvPr id="35" name="Freeform 23">
              <a:extLst>
                <a:ext uri="{FF2B5EF4-FFF2-40B4-BE49-F238E27FC236}">
                  <a16:creationId xmlns:a16="http://schemas.microsoft.com/office/drawing/2014/main" id="{EB8CC766-1206-4372-ACAF-8230AF4D5421}"/>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en-US"/>
            </a:p>
          </p:txBody>
        </p:sp>
        <p:sp>
          <p:nvSpPr>
            <p:cNvPr id="36" name="Freeform 24">
              <a:extLst>
                <a:ext uri="{FF2B5EF4-FFF2-40B4-BE49-F238E27FC236}">
                  <a16:creationId xmlns:a16="http://schemas.microsoft.com/office/drawing/2014/main" id="{1C8E2511-2489-47B2-9C19-C410910DD90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en-US"/>
            </a:p>
          </p:txBody>
        </p:sp>
        <p:sp>
          <p:nvSpPr>
            <p:cNvPr id="37" name="Freeform 25">
              <a:extLst>
                <a:ext uri="{FF2B5EF4-FFF2-40B4-BE49-F238E27FC236}">
                  <a16:creationId xmlns:a16="http://schemas.microsoft.com/office/drawing/2014/main" id="{D7820196-0A47-47EF-832C-A688E8977D60}"/>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en-US"/>
            </a:p>
          </p:txBody>
        </p:sp>
        <p:sp>
          <p:nvSpPr>
            <p:cNvPr id="38" name="Freeform 26">
              <a:extLst>
                <a:ext uri="{FF2B5EF4-FFF2-40B4-BE49-F238E27FC236}">
                  <a16:creationId xmlns:a16="http://schemas.microsoft.com/office/drawing/2014/main" id="{4982E0BF-34AE-48A3-AD6B-E0F3CD05DB3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en-US"/>
            </a:p>
          </p:txBody>
        </p:sp>
        <p:sp>
          <p:nvSpPr>
            <p:cNvPr id="39" name="Freeform 27">
              <a:extLst>
                <a:ext uri="{FF2B5EF4-FFF2-40B4-BE49-F238E27FC236}">
                  <a16:creationId xmlns:a16="http://schemas.microsoft.com/office/drawing/2014/main" id="{CD34643B-9DF2-4310-8868-48252C3393F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en-US"/>
            </a:p>
          </p:txBody>
        </p:sp>
        <p:sp>
          <p:nvSpPr>
            <p:cNvPr id="40" name="Freeform 28">
              <a:extLst>
                <a:ext uri="{FF2B5EF4-FFF2-40B4-BE49-F238E27FC236}">
                  <a16:creationId xmlns:a16="http://schemas.microsoft.com/office/drawing/2014/main" id="{4E020C4E-AF64-44A8-B830-779541D8D549}"/>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en-US"/>
            </a:p>
          </p:txBody>
        </p:sp>
        <p:sp>
          <p:nvSpPr>
            <p:cNvPr id="41" name="Freeform 29">
              <a:extLst>
                <a:ext uri="{FF2B5EF4-FFF2-40B4-BE49-F238E27FC236}">
                  <a16:creationId xmlns:a16="http://schemas.microsoft.com/office/drawing/2014/main" id="{D97BC3D3-B1B3-4825-9169-BBEF1DBCF055}"/>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en-US"/>
            </a:p>
          </p:txBody>
        </p:sp>
        <p:sp>
          <p:nvSpPr>
            <p:cNvPr id="42" name="Freeform 30">
              <a:extLst>
                <a:ext uri="{FF2B5EF4-FFF2-40B4-BE49-F238E27FC236}">
                  <a16:creationId xmlns:a16="http://schemas.microsoft.com/office/drawing/2014/main" id="{A750DC4F-1DAF-470E-98C6-6C68DEB933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en-US"/>
            </a:p>
          </p:txBody>
        </p:sp>
        <p:sp>
          <p:nvSpPr>
            <p:cNvPr id="43" name="Freeform 31">
              <a:extLst>
                <a:ext uri="{FF2B5EF4-FFF2-40B4-BE49-F238E27FC236}">
                  <a16:creationId xmlns:a16="http://schemas.microsoft.com/office/drawing/2014/main" id="{2F99594A-5BBD-4E10-A818-8BE52B7D952C}"/>
                </a:ext>
                <a:ext uri="{C183D7F6-B498-43B3-948B-1728B52AA6E4}">
                  <adec:decorative xmlns:adec="http://schemas.microsoft.com/office/drawing/2017/decorative" val="1"/>
                </a:ext>
              </a:extLst>
            </p:cNvPr>
            <p:cNvSpPr>
              <a:spLocks noEditPoints="1"/>
            </p:cNvSpPr>
            <p:nvPr>
              <p:extLst>
                <p:ext uri="{386F3935-93C4-4BCD-93E2-E3B085C9AB24}">
                  <p16:designElem xmlns:p16="http://schemas.microsoft.com/office/powerpoint/2015/main" val="1"/>
                </p:ext>
              </p:extLst>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 xmlns:a16="http://schemas.microsoft.com/office/drawing/2014/main" xmlns:p14="http://schemas.microsoft.com/office/powerpoint/2010/main" xmlns:a14="http://schemas.microsoft.com/office/drawing/2010/main" w="9525">
                  <a:solidFill>
                    <a:srgbClr val="000000"/>
                  </a:solidFill>
                  <a:round/>
                  <a:headEnd/>
                  <a:tailEnd/>
                </a14:hiddenLine>
              </a:ext>
            </a:extLst>
          </p:spPr>
          <p:txBody>
            <a:bodyPr/>
            <a:lstStyle/>
            <a:p>
              <a:endParaRPr lang="en-US"/>
            </a:p>
          </p:txBody>
        </p:sp>
      </p:grpSp>
    </p:spTree>
    <p:extLst>
      <p:ext uri="{BB962C8B-B14F-4D97-AF65-F5344CB8AC3E}">
        <p14:creationId xmlns:p14="http://schemas.microsoft.com/office/powerpoint/2010/main" val="28208683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5C82EA-F223-3515-5A37-542D4FFBBDD3}"/>
              </a:ext>
            </a:extLst>
          </p:cNvPr>
          <p:cNvSpPr>
            <a:spLocks noGrp="1"/>
          </p:cNvSpPr>
          <p:nvPr>
            <p:ph type="title"/>
          </p:nvPr>
        </p:nvSpPr>
        <p:spPr/>
        <p:txBody>
          <a:bodyPr/>
          <a:lstStyle/>
          <a:p>
            <a:r>
              <a:rPr lang="en-US" dirty="0" err="1"/>
              <a:t>Ltrace</a:t>
            </a:r>
            <a:r>
              <a:rPr lang="en-US" dirty="0"/>
              <a:t> results</a:t>
            </a:r>
          </a:p>
        </p:txBody>
      </p:sp>
      <p:sp>
        <p:nvSpPr>
          <p:cNvPr id="3" name="Content Placeholder 2">
            <a:extLst>
              <a:ext uri="{FF2B5EF4-FFF2-40B4-BE49-F238E27FC236}">
                <a16:creationId xmlns:a16="http://schemas.microsoft.com/office/drawing/2014/main" id="{7CA53E5C-172E-C664-12F1-E4C6FD6C713E}"/>
              </a:ext>
            </a:extLst>
          </p:cNvPr>
          <p:cNvSpPr>
            <a:spLocks noGrp="1"/>
          </p:cNvSpPr>
          <p:nvPr>
            <p:ph idx="1"/>
          </p:nvPr>
        </p:nvSpPr>
        <p:spPr>
          <a:xfrm>
            <a:off x="1141413" y="2249487"/>
            <a:ext cx="4936868" cy="3541714"/>
          </a:xfrm>
        </p:spPr>
        <p:txBody>
          <a:bodyPr/>
          <a:lstStyle/>
          <a:p>
            <a:r>
              <a:rPr lang="en-US" dirty="0"/>
              <a:t>Shows library functions called</a:t>
            </a:r>
          </a:p>
          <a:p>
            <a:r>
              <a:rPr lang="en-US" dirty="0"/>
              <a:t>Input after </a:t>
            </a:r>
            <a:r>
              <a:rPr lang="en-US" dirty="0" err="1"/>
              <a:t>printf</a:t>
            </a:r>
            <a:r>
              <a:rPr lang="en-US" dirty="0"/>
              <a:t> call was “Hello”</a:t>
            </a:r>
          </a:p>
        </p:txBody>
      </p:sp>
      <p:sp>
        <p:nvSpPr>
          <p:cNvPr id="5" name="TextBox 4">
            <a:extLst>
              <a:ext uri="{FF2B5EF4-FFF2-40B4-BE49-F238E27FC236}">
                <a16:creationId xmlns:a16="http://schemas.microsoft.com/office/drawing/2014/main" id="{E2760835-1C13-6EF0-0CEC-F47C7BF5E255}"/>
              </a:ext>
            </a:extLst>
          </p:cNvPr>
          <p:cNvSpPr txBox="1"/>
          <p:nvPr/>
        </p:nvSpPr>
        <p:spPr>
          <a:xfrm>
            <a:off x="6078280" y="1715167"/>
            <a:ext cx="6113720" cy="4524315"/>
          </a:xfrm>
          <a:prstGeom prst="rect">
            <a:avLst/>
          </a:prstGeom>
          <a:noFill/>
        </p:spPr>
        <p:txBody>
          <a:bodyPr wrap="square">
            <a:spAutoFit/>
          </a:bodyPr>
          <a:lstStyle/>
          <a:p>
            <a:r>
              <a:rPr lang="en-US" dirty="0" err="1"/>
              <a:t>setvbuf</a:t>
            </a:r>
            <a:r>
              <a:rPr lang="en-US" dirty="0"/>
              <a:t>(0x7f80131b05c0, nil, 2, 0)                                                                  = 0</a:t>
            </a:r>
          </a:p>
          <a:p>
            <a:r>
              <a:rPr lang="en-US" dirty="0" err="1"/>
              <a:t>printf</a:t>
            </a:r>
            <a:r>
              <a:rPr lang="en-US" dirty="0"/>
              <a:t>("System Shell v3.1.4\n&gt; ")                                                                   = 22</a:t>
            </a:r>
          </a:p>
          <a:p>
            <a:r>
              <a:rPr lang="en-US" dirty="0" err="1"/>
              <a:t>fgets</a:t>
            </a:r>
            <a:r>
              <a:rPr lang="en-US" dirty="0"/>
              <a:t>(Hello</a:t>
            </a:r>
          </a:p>
          <a:p>
            <a:r>
              <a:rPr lang="en-US" dirty="0"/>
              <a:t>"Hello\n", 128, 0x7f80131af8e0)                                                               = 0x7fff11e826c0</a:t>
            </a:r>
          </a:p>
          <a:p>
            <a:r>
              <a:rPr lang="en-US" dirty="0" err="1"/>
              <a:t>strtok</a:t>
            </a:r>
            <a:r>
              <a:rPr lang="en-US" dirty="0"/>
              <a:t>("Hello\n", " \n")                                                                            = "Hello"</a:t>
            </a:r>
          </a:p>
          <a:p>
            <a:r>
              <a:rPr lang="en-US" dirty="0" err="1"/>
              <a:t>strcmp</a:t>
            </a:r>
            <a:r>
              <a:rPr lang="en-US" dirty="0"/>
              <a:t>("Hello", "run")                                                                              = -42</a:t>
            </a:r>
          </a:p>
          <a:p>
            <a:r>
              <a:rPr lang="en-US" dirty="0" err="1"/>
              <a:t>strcmp</a:t>
            </a:r>
            <a:r>
              <a:rPr lang="en-US" dirty="0"/>
              <a:t>("Hello", "</a:t>
            </a:r>
            <a:r>
              <a:rPr lang="en-US" dirty="0" err="1"/>
              <a:t>cmd</a:t>
            </a:r>
            <a:r>
              <a:rPr lang="en-US" dirty="0"/>
              <a:t>")                                                                              = -27</a:t>
            </a:r>
          </a:p>
          <a:p>
            <a:r>
              <a:rPr lang="en-US" dirty="0" err="1"/>
              <a:t>strcmp</a:t>
            </a:r>
            <a:r>
              <a:rPr lang="en-US" dirty="0"/>
              <a:t>("Hello", "secret")                                                                           = -43</a:t>
            </a:r>
          </a:p>
          <a:p>
            <a:r>
              <a:rPr lang="en-US" dirty="0"/>
              <a:t>+++ exited (status 0) +++</a:t>
            </a:r>
          </a:p>
        </p:txBody>
      </p:sp>
    </p:spTree>
    <p:extLst>
      <p:ext uri="{BB962C8B-B14F-4D97-AF65-F5344CB8AC3E}">
        <p14:creationId xmlns:p14="http://schemas.microsoft.com/office/powerpoint/2010/main" val="14770570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7494CC-6885-486D-BD92-C064D8B4A73E}"/>
              </a:ext>
            </a:extLst>
          </p:cNvPr>
          <p:cNvSpPr>
            <a:spLocks noGrp="1"/>
          </p:cNvSpPr>
          <p:nvPr>
            <p:ph type="title"/>
          </p:nvPr>
        </p:nvSpPr>
        <p:spPr/>
        <p:txBody>
          <a:bodyPr/>
          <a:lstStyle/>
          <a:p>
            <a:r>
              <a:rPr lang="en-US" dirty="0" err="1"/>
              <a:t>Strace</a:t>
            </a:r>
            <a:r>
              <a:rPr lang="en-US" dirty="0"/>
              <a:t> results</a:t>
            </a:r>
          </a:p>
        </p:txBody>
      </p:sp>
      <p:sp>
        <p:nvSpPr>
          <p:cNvPr id="5" name="TextBox 4">
            <a:extLst>
              <a:ext uri="{FF2B5EF4-FFF2-40B4-BE49-F238E27FC236}">
                <a16:creationId xmlns:a16="http://schemas.microsoft.com/office/drawing/2014/main" id="{5817D269-6FEF-11F0-4107-020825DE69BC}"/>
              </a:ext>
            </a:extLst>
          </p:cNvPr>
          <p:cNvSpPr txBox="1"/>
          <p:nvPr/>
        </p:nvSpPr>
        <p:spPr>
          <a:xfrm>
            <a:off x="431944" y="1614488"/>
            <a:ext cx="11324935" cy="5355312"/>
          </a:xfrm>
          <a:prstGeom prst="rect">
            <a:avLst/>
          </a:prstGeom>
          <a:noFill/>
        </p:spPr>
        <p:txBody>
          <a:bodyPr wrap="square">
            <a:spAutoFit/>
          </a:bodyPr>
          <a:lstStyle/>
          <a:p>
            <a:r>
              <a:rPr lang="en-US" dirty="0" err="1"/>
              <a:t>execve</a:t>
            </a:r>
            <a:r>
              <a:rPr lang="en-US" dirty="0"/>
              <a:t>("./target", ["./target"], 0x7fff7300f420 /* 57 vars */) = 0</a:t>
            </a:r>
          </a:p>
          <a:p>
            <a:r>
              <a:rPr lang="en-US" dirty="0" err="1"/>
              <a:t>brk</a:t>
            </a:r>
            <a:r>
              <a:rPr lang="en-US" dirty="0"/>
              <a:t>(NULL)                               = 0x55f5fbe0c000</a:t>
            </a:r>
          </a:p>
          <a:p>
            <a:r>
              <a:rPr lang="en-US" dirty="0" err="1"/>
              <a:t>mmap</a:t>
            </a:r>
            <a:r>
              <a:rPr lang="en-US" dirty="0"/>
              <a:t>(NULL, 8192, PROT_READ|PROT_WRITE, MAP_PRIVATE|MAP_ANONYMOUS, -1, 0) = 0x7ff23abb2000</a:t>
            </a:r>
          </a:p>
          <a:p>
            <a:r>
              <a:rPr lang="en-US" dirty="0"/>
              <a:t>access("/</a:t>
            </a:r>
            <a:r>
              <a:rPr lang="en-US" dirty="0" err="1"/>
              <a:t>etc</a:t>
            </a:r>
            <a:r>
              <a:rPr lang="en-US" dirty="0"/>
              <a:t>/</a:t>
            </a:r>
            <a:r>
              <a:rPr lang="en-US" dirty="0" err="1"/>
              <a:t>ld.so.preload</a:t>
            </a:r>
            <a:r>
              <a:rPr lang="en-US" dirty="0"/>
              <a:t>", R_OK)      = -1 ENOENT (No such file or directory)</a:t>
            </a:r>
          </a:p>
          <a:p>
            <a:r>
              <a:rPr lang="en-US" dirty="0" err="1"/>
              <a:t>openat</a:t>
            </a:r>
            <a:r>
              <a:rPr lang="en-US" dirty="0"/>
              <a:t>(AT_FDCWD, "/</a:t>
            </a:r>
            <a:r>
              <a:rPr lang="en-US" dirty="0" err="1"/>
              <a:t>etc</a:t>
            </a:r>
            <a:r>
              <a:rPr lang="en-US" dirty="0"/>
              <a:t>/</a:t>
            </a:r>
            <a:r>
              <a:rPr lang="en-US" dirty="0" err="1"/>
              <a:t>ld.so.cache</a:t>
            </a:r>
            <a:r>
              <a:rPr lang="en-US" dirty="0"/>
              <a:t>", O_RDONLY|O_CLOEXEC) = 3</a:t>
            </a:r>
          </a:p>
          <a:p>
            <a:r>
              <a:rPr lang="en-US" dirty="0" err="1"/>
              <a:t>fstat</a:t>
            </a:r>
            <a:r>
              <a:rPr lang="en-US" dirty="0"/>
              <a:t>(3, {</a:t>
            </a:r>
            <a:r>
              <a:rPr lang="en-US" dirty="0" err="1"/>
              <a:t>st_mode</a:t>
            </a:r>
            <a:r>
              <a:rPr lang="en-US" dirty="0"/>
              <a:t>=S_IFREG|0644, </a:t>
            </a:r>
            <a:r>
              <a:rPr lang="en-US" dirty="0" err="1"/>
              <a:t>st_size</a:t>
            </a:r>
            <a:r>
              <a:rPr lang="en-US" dirty="0"/>
              <a:t>=102235, ...}) = 0</a:t>
            </a:r>
          </a:p>
          <a:p>
            <a:r>
              <a:rPr lang="en-US" dirty="0" err="1"/>
              <a:t>mmap</a:t>
            </a:r>
            <a:r>
              <a:rPr lang="en-US" dirty="0"/>
              <a:t>(NULL, 102235, PROT_READ, MAP_PRIVATE, 3, 0) = 0x7ff23ab99000</a:t>
            </a:r>
          </a:p>
          <a:p>
            <a:r>
              <a:rPr lang="en-US" dirty="0"/>
              <a:t>close(3)                                = 0</a:t>
            </a:r>
          </a:p>
          <a:p>
            <a:r>
              <a:rPr lang="en-US" dirty="0" err="1"/>
              <a:t>openat</a:t>
            </a:r>
            <a:r>
              <a:rPr lang="en-US" dirty="0"/>
              <a:t>(AT_FDCWD, "/</a:t>
            </a:r>
            <a:r>
              <a:rPr lang="en-US" dirty="0" err="1"/>
              <a:t>usr</a:t>
            </a:r>
            <a:r>
              <a:rPr lang="en-US" dirty="0"/>
              <a:t>/lib/x86_64-linux-gnu/libc.so.6", O_RDONLY|O_CLOEXEC) = 3</a:t>
            </a:r>
          </a:p>
          <a:p>
            <a:r>
              <a:rPr lang="en-US" dirty="0"/>
              <a:t>read(3, "\177ELF\2\1\1\3\0\0\0\0\0\0\0\0\3\0&gt;\0\1\0\0\0000\241\2\0\0\0\0\0"..., 832) = 832</a:t>
            </a:r>
          </a:p>
          <a:p>
            <a:r>
              <a:rPr lang="en-US" dirty="0"/>
              <a:t>pread64(3, "\6\0\0\0\4\0\0\0@\0\0\0\0\0\0\0@\0\0\0\0\0\0\0@\0\0\0\0\0\0\0"..., 840, 64) = 840</a:t>
            </a:r>
          </a:p>
          <a:p>
            <a:r>
              <a:rPr lang="en-US" dirty="0" err="1"/>
              <a:t>fstat</a:t>
            </a:r>
            <a:r>
              <a:rPr lang="en-US" dirty="0"/>
              <a:t>(3, {</a:t>
            </a:r>
            <a:r>
              <a:rPr lang="en-US" dirty="0" err="1"/>
              <a:t>st_mode</a:t>
            </a:r>
            <a:r>
              <a:rPr lang="en-US" dirty="0"/>
              <a:t>=S_IFREG|0755, </a:t>
            </a:r>
            <a:r>
              <a:rPr lang="en-US" dirty="0" err="1"/>
              <a:t>st_size</a:t>
            </a:r>
            <a:r>
              <a:rPr lang="en-US" dirty="0"/>
              <a:t>=2014472, ...}) = 0</a:t>
            </a:r>
          </a:p>
          <a:p>
            <a:r>
              <a:rPr lang="en-US" dirty="0"/>
              <a:t>pread64(3, "\6\0\0\0\4\0\0\0@\0\0\0\0\0\0\0@\0\0\0\0\0\0\0@\0\0\0\0\0\0\0"..., 840, 64) = 840</a:t>
            </a:r>
          </a:p>
          <a:p>
            <a:r>
              <a:rPr lang="en-US" dirty="0" err="1"/>
              <a:t>mmap</a:t>
            </a:r>
            <a:r>
              <a:rPr lang="en-US" dirty="0"/>
              <a:t>(NULL, 2055760, PROT_READ, MAP_PRIVATE|MAP_DENYWRITE, 3, 0) = 0x7ff23a9a3000</a:t>
            </a:r>
          </a:p>
          <a:p>
            <a:r>
              <a:rPr lang="en-US" dirty="0" err="1"/>
              <a:t>mmap</a:t>
            </a:r>
            <a:r>
              <a:rPr lang="en-US" dirty="0"/>
              <a:t>(0x7ff23a9cb000, 1474560, PROT_READ|PROT_EXEC, MAP_PRIVATE|MAP_FIXED|MAP_DENYWRITE, 3, 0x28000) = 0x7ff23a9cb000</a:t>
            </a:r>
          </a:p>
          <a:p>
            <a:r>
              <a:rPr lang="en-US" dirty="0" err="1"/>
              <a:t>mmap</a:t>
            </a:r>
            <a:r>
              <a:rPr lang="en-US" dirty="0"/>
              <a:t>(0x7ff23ab33000, 339968, PROT_READ, MAP_PRIVATE|MAP_FIXED|MAP_DENYWRITE, 3, 0x190000) = 0x7ff23ab33000</a:t>
            </a:r>
          </a:p>
          <a:p>
            <a:endParaRPr lang="en-US" dirty="0"/>
          </a:p>
        </p:txBody>
      </p:sp>
    </p:spTree>
    <p:extLst>
      <p:ext uri="{BB962C8B-B14F-4D97-AF65-F5344CB8AC3E}">
        <p14:creationId xmlns:p14="http://schemas.microsoft.com/office/powerpoint/2010/main" val="372552829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09D5F8-7748-D163-89AF-7433ECF417C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B211152-C1C3-54BB-69FE-46F9008E0DD4}"/>
              </a:ext>
            </a:extLst>
          </p:cNvPr>
          <p:cNvSpPr>
            <a:spLocks noGrp="1"/>
          </p:cNvSpPr>
          <p:nvPr>
            <p:ph type="title"/>
          </p:nvPr>
        </p:nvSpPr>
        <p:spPr/>
        <p:txBody>
          <a:bodyPr/>
          <a:lstStyle/>
          <a:p>
            <a:r>
              <a:rPr lang="en-US" dirty="0" err="1"/>
              <a:t>Strace</a:t>
            </a:r>
            <a:r>
              <a:rPr lang="en-US" dirty="0"/>
              <a:t> results (CONT)</a:t>
            </a:r>
          </a:p>
        </p:txBody>
      </p:sp>
      <p:sp>
        <p:nvSpPr>
          <p:cNvPr id="5" name="TextBox 4">
            <a:extLst>
              <a:ext uri="{FF2B5EF4-FFF2-40B4-BE49-F238E27FC236}">
                <a16:creationId xmlns:a16="http://schemas.microsoft.com/office/drawing/2014/main" id="{BE9EBE66-4BB5-00D4-C8A1-EC6C3BF8C607}"/>
              </a:ext>
            </a:extLst>
          </p:cNvPr>
          <p:cNvSpPr txBox="1"/>
          <p:nvPr/>
        </p:nvSpPr>
        <p:spPr>
          <a:xfrm>
            <a:off x="431944" y="1614488"/>
            <a:ext cx="11324935" cy="5078313"/>
          </a:xfrm>
          <a:prstGeom prst="rect">
            <a:avLst/>
          </a:prstGeom>
          <a:noFill/>
        </p:spPr>
        <p:txBody>
          <a:bodyPr wrap="square">
            <a:spAutoFit/>
          </a:bodyPr>
          <a:lstStyle/>
          <a:p>
            <a:r>
              <a:rPr lang="en-US" dirty="0" err="1"/>
              <a:t>mmap</a:t>
            </a:r>
            <a:r>
              <a:rPr lang="en-US" dirty="0"/>
              <a:t>(0x7ff23ab86000, 24576, PROT_READ|PROT_WRITE, MAP_PRIVATE|MAP_FIXED|MAP_DENYWRITE, 3, 0x1e3000) = 0x7ff23ab86000</a:t>
            </a:r>
          </a:p>
          <a:p>
            <a:r>
              <a:rPr lang="en-US" dirty="0" err="1"/>
              <a:t>mmap</a:t>
            </a:r>
            <a:r>
              <a:rPr lang="en-US" dirty="0"/>
              <a:t>(0x7ff23ab8c000, 52816, PROT_READ|PROT_WRITE, MAP_PRIVATE|MAP_FIXED|MAP_ANONYMOUS, -1, 0) = 0x7ff23ab8c000</a:t>
            </a:r>
          </a:p>
          <a:p>
            <a:r>
              <a:rPr lang="en-US" dirty="0"/>
              <a:t>close(3)                                = 0</a:t>
            </a:r>
          </a:p>
          <a:p>
            <a:r>
              <a:rPr lang="en-US" dirty="0" err="1"/>
              <a:t>mmap</a:t>
            </a:r>
            <a:r>
              <a:rPr lang="en-US" dirty="0"/>
              <a:t>(NULL, 12288, PROT_READ|PROT_WRITE, MAP_PRIVATE|MAP_ANONYMOUS, -1, 0) = 0x7ff23a9a0000</a:t>
            </a:r>
          </a:p>
          <a:p>
            <a:r>
              <a:rPr lang="en-US" dirty="0" err="1"/>
              <a:t>arch_prctl</a:t>
            </a:r>
            <a:r>
              <a:rPr lang="en-US" dirty="0"/>
              <a:t>(ARCH_SET_FS, 0x7ff23a9a0740) = 0</a:t>
            </a:r>
          </a:p>
          <a:p>
            <a:r>
              <a:rPr lang="en-US" dirty="0" err="1"/>
              <a:t>set_tid_address</a:t>
            </a:r>
            <a:r>
              <a:rPr lang="en-US" dirty="0"/>
              <a:t>(0x7ff23a9a0a10)         = 68083</a:t>
            </a:r>
          </a:p>
          <a:p>
            <a:r>
              <a:rPr lang="en-US" dirty="0" err="1"/>
              <a:t>set_robust_list</a:t>
            </a:r>
            <a:r>
              <a:rPr lang="en-US" dirty="0"/>
              <a:t>(0x7ff23a9a0a20, 24)     = 0</a:t>
            </a:r>
          </a:p>
          <a:p>
            <a:r>
              <a:rPr lang="en-US" dirty="0" err="1"/>
              <a:t>rseq</a:t>
            </a:r>
            <a:r>
              <a:rPr lang="en-US" dirty="0"/>
              <a:t>(0x7ff23a9a0680, 0x20, 0, 0x53053053) = 0</a:t>
            </a:r>
          </a:p>
          <a:p>
            <a:r>
              <a:rPr lang="en-US" dirty="0" err="1"/>
              <a:t>mprotect</a:t>
            </a:r>
            <a:r>
              <a:rPr lang="en-US" dirty="0"/>
              <a:t>(0x7ff23ab86000, 16384, PROT_READ) = 0</a:t>
            </a:r>
          </a:p>
          <a:p>
            <a:r>
              <a:rPr lang="en-US" dirty="0" err="1"/>
              <a:t>mprotect</a:t>
            </a:r>
            <a:r>
              <a:rPr lang="en-US" dirty="0"/>
              <a:t>(0x55f5e4d35000, 4096, PROT_READ) = 0</a:t>
            </a:r>
          </a:p>
          <a:p>
            <a:r>
              <a:rPr lang="en-US" dirty="0" err="1"/>
              <a:t>mprotect</a:t>
            </a:r>
            <a:r>
              <a:rPr lang="en-US" dirty="0"/>
              <a:t>(0x7ff23abf0000, 8192, PROT_READ) = 0</a:t>
            </a:r>
          </a:p>
          <a:p>
            <a:r>
              <a:rPr lang="en-US" dirty="0"/>
              <a:t>prlimit64(0, RLIMIT_STACK, NULL, {</a:t>
            </a:r>
            <a:r>
              <a:rPr lang="en-US" dirty="0" err="1"/>
              <a:t>rlim_cur</a:t>
            </a:r>
            <a:r>
              <a:rPr lang="en-US" dirty="0"/>
              <a:t>=8192*1024, </a:t>
            </a:r>
            <a:r>
              <a:rPr lang="en-US" dirty="0" err="1"/>
              <a:t>rlim_max</a:t>
            </a:r>
            <a:r>
              <a:rPr lang="en-US" dirty="0"/>
              <a:t>=RLIM64_INFINITY}) = 0</a:t>
            </a:r>
          </a:p>
          <a:p>
            <a:r>
              <a:rPr lang="en-US" dirty="0" err="1"/>
              <a:t>getrandom</a:t>
            </a:r>
            <a:r>
              <a:rPr lang="en-US" dirty="0"/>
              <a:t>("\x54\x34\x60\x72\x92\</a:t>
            </a:r>
            <a:r>
              <a:rPr lang="en-US" dirty="0" err="1"/>
              <a:t>xec</a:t>
            </a:r>
            <a:r>
              <a:rPr lang="en-US" dirty="0"/>
              <a:t>\xb8\x8f", 8, GRND_NONBLOCK) = 8</a:t>
            </a:r>
          </a:p>
          <a:p>
            <a:r>
              <a:rPr lang="en-US" dirty="0" err="1"/>
              <a:t>munmap</a:t>
            </a:r>
            <a:r>
              <a:rPr lang="en-US" dirty="0"/>
              <a:t>(0x7ff23ab99000, 102235)          = 0</a:t>
            </a:r>
          </a:p>
          <a:p>
            <a:r>
              <a:rPr lang="en-US" dirty="0"/>
              <a:t>write(1, "System Shell v3.1.4\n&gt; ", 22System Shell v3.1.4</a:t>
            </a:r>
          </a:p>
          <a:p>
            <a:r>
              <a:rPr lang="en-US" dirty="0"/>
              <a:t>&gt; ) = 22</a:t>
            </a:r>
          </a:p>
        </p:txBody>
      </p:sp>
    </p:spTree>
    <p:extLst>
      <p:ext uri="{BB962C8B-B14F-4D97-AF65-F5344CB8AC3E}">
        <p14:creationId xmlns:p14="http://schemas.microsoft.com/office/powerpoint/2010/main" val="201989194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FFE79A-3872-B20F-056D-60DA6CF0191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0B09FFD-6505-7410-DC2F-CD80BED6C4B7}"/>
              </a:ext>
            </a:extLst>
          </p:cNvPr>
          <p:cNvSpPr>
            <a:spLocks noGrp="1"/>
          </p:cNvSpPr>
          <p:nvPr>
            <p:ph type="title"/>
          </p:nvPr>
        </p:nvSpPr>
        <p:spPr/>
        <p:txBody>
          <a:bodyPr/>
          <a:lstStyle/>
          <a:p>
            <a:r>
              <a:rPr lang="en-US" dirty="0" err="1"/>
              <a:t>Strace</a:t>
            </a:r>
            <a:r>
              <a:rPr lang="en-US"/>
              <a:t> results (CONT)</a:t>
            </a:r>
            <a:endParaRPr lang="en-US" dirty="0"/>
          </a:p>
        </p:txBody>
      </p:sp>
      <p:sp>
        <p:nvSpPr>
          <p:cNvPr id="5" name="TextBox 4">
            <a:extLst>
              <a:ext uri="{FF2B5EF4-FFF2-40B4-BE49-F238E27FC236}">
                <a16:creationId xmlns:a16="http://schemas.microsoft.com/office/drawing/2014/main" id="{22700075-BAED-D50F-3254-816FCFDEF448}"/>
              </a:ext>
            </a:extLst>
          </p:cNvPr>
          <p:cNvSpPr txBox="1"/>
          <p:nvPr/>
        </p:nvSpPr>
        <p:spPr>
          <a:xfrm>
            <a:off x="431944" y="1614488"/>
            <a:ext cx="11324935" cy="2031325"/>
          </a:xfrm>
          <a:prstGeom prst="rect">
            <a:avLst/>
          </a:prstGeom>
          <a:noFill/>
        </p:spPr>
        <p:txBody>
          <a:bodyPr wrap="square">
            <a:spAutoFit/>
          </a:bodyPr>
          <a:lstStyle/>
          <a:p>
            <a:r>
              <a:rPr lang="en-US" dirty="0" err="1"/>
              <a:t>fstat</a:t>
            </a:r>
            <a:r>
              <a:rPr lang="en-US" dirty="0"/>
              <a:t>(0, {</a:t>
            </a:r>
            <a:r>
              <a:rPr lang="en-US" dirty="0" err="1"/>
              <a:t>st_mode</a:t>
            </a:r>
            <a:r>
              <a:rPr lang="en-US" dirty="0"/>
              <a:t>=S_IFCHR|0600, </a:t>
            </a:r>
            <a:r>
              <a:rPr lang="en-US" dirty="0" err="1"/>
              <a:t>st_rdev</a:t>
            </a:r>
            <a:r>
              <a:rPr lang="en-US" dirty="0"/>
              <a:t>=</a:t>
            </a:r>
            <a:r>
              <a:rPr lang="en-US" dirty="0" err="1"/>
              <a:t>makedev</a:t>
            </a:r>
            <a:r>
              <a:rPr lang="en-US" dirty="0"/>
              <a:t>(0x88, 0), ...}) = 0</a:t>
            </a:r>
          </a:p>
          <a:p>
            <a:r>
              <a:rPr lang="en-US" dirty="0" err="1"/>
              <a:t>brk</a:t>
            </a:r>
            <a:r>
              <a:rPr lang="en-US" dirty="0"/>
              <a:t>(NULL)                               = 0x55f5fbe0c000</a:t>
            </a:r>
          </a:p>
          <a:p>
            <a:r>
              <a:rPr lang="en-US" dirty="0" err="1"/>
              <a:t>brk</a:t>
            </a:r>
            <a:r>
              <a:rPr lang="en-US" dirty="0"/>
              <a:t>(0x55f5fbe2d000)                     = 0x55f5fbe2d000</a:t>
            </a:r>
          </a:p>
          <a:p>
            <a:r>
              <a:rPr lang="en-US" dirty="0"/>
              <a:t>read(0Hello</a:t>
            </a:r>
          </a:p>
          <a:p>
            <a:r>
              <a:rPr lang="en-US" dirty="0"/>
              <a:t>, "Hello\n", 1024)                = 6</a:t>
            </a:r>
          </a:p>
          <a:p>
            <a:r>
              <a:rPr lang="en-US" dirty="0" err="1"/>
              <a:t>exit_group</a:t>
            </a:r>
            <a:r>
              <a:rPr lang="en-US" dirty="0"/>
              <a:t>(0)                           = ?</a:t>
            </a:r>
          </a:p>
          <a:p>
            <a:r>
              <a:rPr lang="en-US" dirty="0"/>
              <a:t>+++ exited with 0 +++</a:t>
            </a:r>
          </a:p>
        </p:txBody>
      </p:sp>
    </p:spTree>
    <p:extLst>
      <p:ext uri="{BB962C8B-B14F-4D97-AF65-F5344CB8AC3E}">
        <p14:creationId xmlns:p14="http://schemas.microsoft.com/office/powerpoint/2010/main" val="285713091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FFACF6-C533-9983-7964-045A93C36CA9}"/>
              </a:ext>
            </a:extLst>
          </p:cNvPr>
          <p:cNvSpPr>
            <a:spLocks noGrp="1"/>
          </p:cNvSpPr>
          <p:nvPr>
            <p:ph type="title"/>
          </p:nvPr>
        </p:nvSpPr>
        <p:spPr/>
        <p:txBody>
          <a:bodyPr/>
          <a:lstStyle/>
          <a:p>
            <a:r>
              <a:rPr lang="en-US" dirty="0"/>
              <a:t>Core functions</a:t>
            </a:r>
          </a:p>
        </p:txBody>
      </p:sp>
      <p:graphicFrame>
        <p:nvGraphicFramePr>
          <p:cNvPr id="4" name="Content Placeholder 3">
            <a:extLst>
              <a:ext uri="{FF2B5EF4-FFF2-40B4-BE49-F238E27FC236}">
                <a16:creationId xmlns:a16="http://schemas.microsoft.com/office/drawing/2014/main" id="{73184AB0-AC9A-7CE7-E5E4-017B72FF34E3}"/>
              </a:ext>
            </a:extLst>
          </p:cNvPr>
          <p:cNvGraphicFramePr>
            <a:graphicFrameLocks noGrp="1"/>
          </p:cNvGraphicFramePr>
          <p:nvPr>
            <p:ph idx="1"/>
            <p:extLst>
              <p:ext uri="{D42A27DB-BD31-4B8C-83A1-F6EECF244321}">
                <p14:modId xmlns:p14="http://schemas.microsoft.com/office/powerpoint/2010/main" val="746450549"/>
              </p:ext>
            </p:extLst>
          </p:nvPr>
        </p:nvGraphicFramePr>
        <p:xfrm>
          <a:off x="0" y="2262741"/>
          <a:ext cx="12191998" cy="4399280"/>
        </p:xfrm>
        <a:graphic>
          <a:graphicData uri="http://schemas.openxmlformats.org/drawingml/2006/table">
            <a:tbl>
              <a:tblPr firstRow="1" bandRow="1">
                <a:tableStyleId>{5C22544A-7EE6-4342-B048-85BDC9FD1C3A}</a:tableStyleId>
              </a:tblPr>
              <a:tblGrid>
                <a:gridCol w="3889119">
                  <a:extLst>
                    <a:ext uri="{9D8B030D-6E8A-4147-A177-3AD203B41FA5}">
                      <a16:colId xmlns:a16="http://schemas.microsoft.com/office/drawing/2014/main" val="944598026"/>
                    </a:ext>
                  </a:extLst>
                </a:gridCol>
                <a:gridCol w="2555412">
                  <a:extLst>
                    <a:ext uri="{9D8B030D-6E8A-4147-A177-3AD203B41FA5}">
                      <a16:colId xmlns:a16="http://schemas.microsoft.com/office/drawing/2014/main" val="1117798659"/>
                    </a:ext>
                  </a:extLst>
                </a:gridCol>
                <a:gridCol w="2954386">
                  <a:extLst>
                    <a:ext uri="{9D8B030D-6E8A-4147-A177-3AD203B41FA5}">
                      <a16:colId xmlns:a16="http://schemas.microsoft.com/office/drawing/2014/main" val="663830685"/>
                    </a:ext>
                  </a:extLst>
                </a:gridCol>
                <a:gridCol w="2793081">
                  <a:extLst>
                    <a:ext uri="{9D8B030D-6E8A-4147-A177-3AD203B41FA5}">
                      <a16:colId xmlns:a16="http://schemas.microsoft.com/office/drawing/2014/main" val="4154493404"/>
                    </a:ext>
                  </a:extLst>
                </a:gridCol>
              </a:tblGrid>
              <a:tr h="370840">
                <a:tc>
                  <a:txBody>
                    <a:bodyPr/>
                    <a:lstStyle/>
                    <a:p>
                      <a:r>
                        <a:rPr lang="en-US" dirty="0"/>
                        <a:t>Function</a:t>
                      </a:r>
                    </a:p>
                  </a:txBody>
                  <a:tcPr/>
                </a:tc>
                <a:tc>
                  <a:txBody>
                    <a:bodyPr/>
                    <a:lstStyle/>
                    <a:p>
                      <a:r>
                        <a:rPr lang="en-US" dirty="0"/>
                        <a:t>Trigger</a:t>
                      </a:r>
                    </a:p>
                  </a:txBody>
                  <a:tcPr/>
                </a:tc>
                <a:tc>
                  <a:txBody>
                    <a:bodyPr/>
                    <a:lstStyle/>
                    <a:p>
                      <a:r>
                        <a:rPr lang="en-US" dirty="0"/>
                        <a:t>Action</a:t>
                      </a:r>
                    </a:p>
                  </a:txBody>
                  <a:tcPr/>
                </a:tc>
                <a:tc>
                  <a:txBody>
                    <a:bodyPr/>
                    <a:lstStyle/>
                    <a:p>
                      <a:r>
                        <a:rPr lang="en-US" dirty="0"/>
                        <a:t>Relevance</a:t>
                      </a:r>
                    </a:p>
                  </a:txBody>
                  <a:tcPr/>
                </a:tc>
                <a:extLst>
                  <a:ext uri="{0D108BD9-81ED-4DB2-BD59-A6C34878D82A}">
                    <a16:rowId xmlns:a16="http://schemas.microsoft.com/office/drawing/2014/main" val="2525546475"/>
                  </a:ext>
                </a:extLst>
              </a:tr>
              <a:tr h="370840">
                <a:tc>
                  <a:txBody>
                    <a:bodyPr/>
                    <a:lstStyle/>
                    <a:p>
                      <a:r>
                        <a:rPr lang="en-US" dirty="0" err="1"/>
                        <a:t>unsafe_string_dead_store</a:t>
                      </a:r>
                      <a:endParaRPr lang="en-US" dirty="0"/>
                    </a:p>
                  </a:txBody>
                  <a:tcPr/>
                </a:tc>
                <a:tc>
                  <a:txBody>
                    <a:bodyPr/>
                    <a:lstStyle/>
                    <a:p>
                      <a:r>
                        <a:rPr lang="en-US" dirty="0"/>
                        <a:t>run &lt;opt&gt; &lt;data&gt;</a:t>
                      </a:r>
                    </a:p>
                  </a:txBody>
                  <a:tcPr/>
                </a:tc>
                <a:tc>
                  <a:txBody>
                    <a:bodyPr/>
                    <a:lstStyle/>
                    <a:p>
                      <a:r>
                        <a:rPr lang="en-US" dirty="0"/>
                        <a:t>Copies data to a local buffer of size 64.</a:t>
                      </a:r>
                      <a:br>
                        <a:rPr lang="en-US" dirty="0"/>
                      </a:br>
                      <a:r>
                        <a:rPr lang="en-US" dirty="0"/>
                        <a:t>opt = 1 </a:t>
                      </a:r>
                      <a:r>
                        <a:rPr lang="en-US" dirty="0">
                          <a:sym typeface="Wingdings" pitchFamily="2" charset="2"/>
                        </a:rPr>
                        <a:t></a:t>
                      </a:r>
                      <a:r>
                        <a:rPr lang="en-US" dirty="0"/>
                        <a:t> </a:t>
                      </a:r>
                      <a:r>
                        <a:rPr lang="en-US" dirty="0" err="1"/>
                        <a:t>strcpy</a:t>
                      </a:r>
                      <a:br>
                        <a:rPr lang="en-US" dirty="0"/>
                      </a:br>
                      <a:r>
                        <a:rPr lang="en-US" dirty="0"/>
                        <a:t>opt = 2 </a:t>
                      </a:r>
                      <a:r>
                        <a:rPr lang="en-US" dirty="0">
                          <a:sym typeface="Wingdings" pitchFamily="2" charset="2"/>
                        </a:rPr>
                        <a:t> </a:t>
                      </a:r>
                      <a:r>
                        <a:rPr lang="en-US" dirty="0" err="1">
                          <a:sym typeface="Wingdings" pitchFamily="2" charset="2"/>
                        </a:rPr>
                        <a:t>strncpy</a:t>
                      </a:r>
                      <a:br>
                        <a:rPr lang="en-US" dirty="0">
                          <a:sym typeface="Wingdings" pitchFamily="2" charset="2"/>
                        </a:rPr>
                      </a:br>
                      <a:r>
                        <a:rPr lang="en-US" dirty="0">
                          <a:sym typeface="Wingdings" pitchFamily="2" charset="2"/>
                        </a:rPr>
                        <a:t>opt = 3  </a:t>
                      </a:r>
                      <a:r>
                        <a:rPr lang="en-US" dirty="0" err="1">
                          <a:sym typeface="Wingdings" pitchFamily="2" charset="2"/>
                        </a:rPr>
                        <a:t>snprintf</a:t>
                      </a:r>
                      <a:endParaRPr lang="en-US" dirty="0"/>
                    </a:p>
                  </a:txBody>
                  <a:tcPr/>
                </a:tc>
                <a:tc>
                  <a:txBody>
                    <a:bodyPr/>
                    <a:lstStyle/>
                    <a:p>
                      <a:r>
                        <a:rPr lang="en-US" dirty="0"/>
                        <a:t>VERY HIGH</a:t>
                      </a:r>
                      <a:br>
                        <a:rPr lang="en-US" dirty="0"/>
                      </a:br>
                      <a:r>
                        <a:rPr lang="en-US" dirty="0"/>
                        <a:t>Buffer overflow possible with opt 1</a:t>
                      </a:r>
                      <a:br>
                        <a:rPr lang="en-US" dirty="0"/>
                      </a:br>
                      <a:r>
                        <a:rPr lang="en-US" dirty="0"/>
                        <a:t>Possible non-null terminated with opt 2</a:t>
                      </a:r>
                    </a:p>
                  </a:txBody>
                  <a:tcPr/>
                </a:tc>
                <a:extLst>
                  <a:ext uri="{0D108BD9-81ED-4DB2-BD59-A6C34878D82A}">
                    <a16:rowId xmlns:a16="http://schemas.microsoft.com/office/drawing/2014/main" val="423193728"/>
                  </a:ext>
                </a:extLst>
              </a:tr>
              <a:tr h="370840">
                <a:tc>
                  <a:txBody>
                    <a:bodyPr/>
                    <a:lstStyle/>
                    <a:p>
                      <a:r>
                        <a:rPr lang="en-US" dirty="0" err="1"/>
                        <a:t>exec_help_version_exit</a:t>
                      </a:r>
                      <a:endParaRPr lang="en-US" dirty="0"/>
                    </a:p>
                  </a:txBody>
                  <a:tcPr/>
                </a:tc>
                <a:tc>
                  <a:txBody>
                    <a:bodyPr/>
                    <a:lstStyle/>
                    <a:p>
                      <a:r>
                        <a:rPr lang="en-US" dirty="0" err="1"/>
                        <a:t>cmd</a:t>
                      </a:r>
                      <a:r>
                        <a:rPr lang="en-US" dirty="0"/>
                        <a:t> &lt;sub command&gt;</a:t>
                      </a:r>
                    </a:p>
                  </a:txBody>
                  <a:tcPr/>
                </a:tc>
                <a:tc>
                  <a:txBody>
                    <a:bodyPr/>
                    <a:lstStyle/>
                    <a:p>
                      <a:r>
                        <a:rPr lang="en-US" dirty="0"/>
                        <a:t>Executes help, version, or exit</a:t>
                      </a:r>
                    </a:p>
                  </a:txBody>
                  <a:tcPr/>
                </a:tc>
                <a:tc>
                  <a:txBody>
                    <a:bodyPr/>
                    <a:lstStyle/>
                    <a:p>
                      <a:r>
                        <a:rPr lang="en-US" dirty="0"/>
                        <a:t>NONE – these </a:t>
                      </a:r>
                    </a:p>
                  </a:txBody>
                  <a:tcPr/>
                </a:tc>
                <a:extLst>
                  <a:ext uri="{0D108BD9-81ED-4DB2-BD59-A6C34878D82A}">
                    <a16:rowId xmlns:a16="http://schemas.microsoft.com/office/drawing/2014/main" val="2329951610"/>
                  </a:ext>
                </a:extLst>
              </a:tr>
              <a:tr h="370840">
                <a:tc>
                  <a:txBody>
                    <a:bodyPr/>
                    <a:lstStyle/>
                    <a:p>
                      <a:r>
                        <a:rPr lang="en-US" dirty="0" err="1"/>
                        <a:t>write_secret_file</a:t>
                      </a:r>
                      <a:endParaRPr lang="en-US" dirty="0"/>
                    </a:p>
                  </a:txBody>
                  <a:tcPr/>
                </a:tc>
                <a:tc>
                  <a:txBody>
                    <a:bodyPr/>
                    <a:lstStyle/>
                    <a:p>
                      <a:r>
                        <a:rPr lang="en-US" i="1" dirty="0"/>
                        <a:t>Only with debug</a:t>
                      </a:r>
                    </a:p>
                  </a:txBody>
                  <a:tcPr/>
                </a:tc>
                <a:tc>
                  <a:txBody>
                    <a:bodyPr/>
                    <a:lstStyle/>
                    <a:p>
                      <a:r>
                        <a:rPr lang="en-US" dirty="0"/>
                        <a:t>Writes “secret data” to /</a:t>
                      </a:r>
                      <a:r>
                        <a:rPr lang="en-US" dirty="0" err="1"/>
                        <a:t>tmp</a:t>
                      </a:r>
                      <a:r>
                        <a:rPr lang="en-US" dirty="0"/>
                        <a:t>/.hidden_&lt;PID&gt;</a:t>
                      </a:r>
                    </a:p>
                  </a:txBody>
                  <a:tcPr/>
                </a:tc>
                <a:tc>
                  <a:txBody>
                    <a:bodyPr/>
                    <a:lstStyle/>
                    <a:p>
                      <a:r>
                        <a:rPr lang="en-US" dirty="0"/>
                        <a:t>LOW – CRITICAL</a:t>
                      </a:r>
                      <a:br>
                        <a:rPr lang="en-US" dirty="0"/>
                      </a:br>
                      <a:r>
                        <a:rPr lang="en-US" dirty="0"/>
                        <a:t>Information leak (world‑writable </a:t>
                      </a:r>
                      <a:r>
                        <a:rPr lang="en-US" dirty="0" err="1"/>
                        <a:t>tmp</a:t>
                      </a:r>
                      <a:r>
                        <a:rPr lang="en-US" dirty="0"/>
                        <a:t>)</a:t>
                      </a:r>
                    </a:p>
                  </a:txBody>
                  <a:tcPr/>
                </a:tc>
                <a:extLst>
                  <a:ext uri="{0D108BD9-81ED-4DB2-BD59-A6C34878D82A}">
                    <a16:rowId xmlns:a16="http://schemas.microsoft.com/office/drawing/2014/main" val="156010466"/>
                  </a:ext>
                </a:extLst>
              </a:tr>
              <a:tr h="370840">
                <a:tc>
                  <a:txBody>
                    <a:bodyPr/>
                    <a:lstStyle/>
                    <a:p>
                      <a:r>
                        <a:rPr lang="en-US" sz="1800" b="0" i="0" u="none" strike="noStrike" kern="1200" dirty="0" err="1">
                          <a:solidFill>
                            <a:schemeClr val="dk1"/>
                          </a:solidFill>
                          <a:effectLst/>
                          <a:latin typeface="+mn-lt"/>
                          <a:ea typeface="+mn-ea"/>
                          <a:cs typeface="+mn-cs"/>
                        </a:rPr>
                        <a:t>privilege_escalation</a:t>
                      </a: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i="1" dirty="0"/>
                        <a:t>Only with debug</a:t>
                      </a:r>
                    </a:p>
                  </a:txBody>
                  <a:tcPr/>
                </a:tc>
                <a:tc>
                  <a:txBody>
                    <a:bodyPr/>
                    <a:lstStyle/>
                    <a:p>
                      <a:r>
                        <a:rPr lang="en-US" dirty="0"/>
                        <a:t>Calls </a:t>
                      </a:r>
                      <a:r>
                        <a:rPr lang="en-US" dirty="0" err="1"/>
                        <a:t>setuid</a:t>
                      </a:r>
                      <a:r>
                        <a:rPr lang="en-US" dirty="0"/>
                        <a:t>(0) &amp; prints “Root privileges granted.”</a:t>
                      </a:r>
                    </a:p>
                  </a:txBody>
                  <a:tcPr/>
                </a:tc>
                <a:tc>
                  <a:txBody>
                    <a:bodyPr/>
                    <a:lstStyle/>
                    <a:p>
                      <a:r>
                        <a:rPr lang="en-US" dirty="0"/>
                        <a:t>CRITICAL if binary runs with set‑</a:t>
                      </a:r>
                      <a:r>
                        <a:rPr lang="en-US" dirty="0" err="1"/>
                        <a:t>uid</a:t>
                      </a:r>
                      <a:r>
                        <a:rPr lang="en-US" dirty="0"/>
                        <a:t> root.</a:t>
                      </a:r>
                    </a:p>
                  </a:txBody>
                  <a:tcPr/>
                </a:tc>
                <a:extLst>
                  <a:ext uri="{0D108BD9-81ED-4DB2-BD59-A6C34878D82A}">
                    <a16:rowId xmlns:a16="http://schemas.microsoft.com/office/drawing/2014/main" val="1527705850"/>
                  </a:ext>
                </a:extLst>
              </a:tr>
              <a:tr h="370840">
                <a:tc>
                  <a:txBody>
                    <a:bodyPr/>
                    <a:lstStyle/>
                    <a:p>
                      <a:r>
                        <a:rPr lang="en-US" dirty="0" err="1"/>
                        <a:t>read_running_processes_on_comp</a:t>
                      </a:r>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i="1" dirty="0"/>
                        <a:t>Only with debug</a:t>
                      </a:r>
                    </a:p>
                  </a:txBody>
                  <a:tcPr/>
                </a:tc>
                <a:tc>
                  <a:txBody>
                    <a:bodyPr/>
                    <a:lstStyle/>
                    <a:p>
                      <a:r>
                        <a:rPr lang="en-US" dirty="0"/>
                        <a:t>Dumps /proc/self/maps</a:t>
                      </a:r>
                    </a:p>
                  </a:txBody>
                  <a:tcPr/>
                </a:tc>
                <a:tc>
                  <a:txBody>
                    <a:bodyPr/>
                    <a:lstStyle/>
                    <a:p>
                      <a:r>
                        <a:rPr lang="en-US" dirty="0"/>
                        <a:t>LOW – HIGH</a:t>
                      </a:r>
                      <a:br>
                        <a:rPr lang="en-US" dirty="0"/>
                      </a:br>
                      <a:r>
                        <a:rPr lang="en-US" dirty="0"/>
                        <a:t>Info‑leak of memory layout</a:t>
                      </a:r>
                    </a:p>
                  </a:txBody>
                  <a:tcPr/>
                </a:tc>
                <a:extLst>
                  <a:ext uri="{0D108BD9-81ED-4DB2-BD59-A6C34878D82A}">
                    <a16:rowId xmlns:a16="http://schemas.microsoft.com/office/drawing/2014/main" val="3477791499"/>
                  </a:ext>
                </a:extLst>
              </a:tr>
            </a:tbl>
          </a:graphicData>
        </a:graphic>
      </p:graphicFrame>
    </p:spTree>
    <p:extLst>
      <p:ext uri="{BB962C8B-B14F-4D97-AF65-F5344CB8AC3E}">
        <p14:creationId xmlns:p14="http://schemas.microsoft.com/office/powerpoint/2010/main" val="29242377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419106-C245-8D53-58BF-EA227094278D}"/>
              </a:ext>
            </a:extLst>
          </p:cNvPr>
          <p:cNvSpPr>
            <a:spLocks noGrp="1"/>
          </p:cNvSpPr>
          <p:nvPr>
            <p:ph type="title"/>
          </p:nvPr>
        </p:nvSpPr>
        <p:spPr/>
        <p:txBody>
          <a:bodyPr/>
          <a:lstStyle/>
          <a:p>
            <a:r>
              <a:rPr lang="en-US" dirty="0"/>
              <a:t>Buffer overflow potentials</a:t>
            </a:r>
          </a:p>
        </p:txBody>
      </p:sp>
      <p:sp>
        <p:nvSpPr>
          <p:cNvPr id="3" name="Content Placeholder 2">
            <a:extLst>
              <a:ext uri="{FF2B5EF4-FFF2-40B4-BE49-F238E27FC236}">
                <a16:creationId xmlns:a16="http://schemas.microsoft.com/office/drawing/2014/main" id="{36599D26-7912-EED3-E141-17FEC1AE8BA1}"/>
              </a:ext>
            </a:extLst>
          </p:cNvPr>
          <p:cNvSpPr>
            <a:spLocks noGrp="1"/>
          </p:cNvSpPr>
          <p:nvPr>
            <p:ph idx="1"/>
          </p:nvPr>
        </p:nvSpPr>
        <p:spPr>
          <a:xfrm>
            <a:off x="1141413" y="2249487"/>
            <a:ext cx="5920250" cy="3541714"/>
          </a:xfrm>
        </p:spPr>
        <p:txBody>
          <a:bodyPr/>
          <a:lstStyle/>
          <a:p>
            <a:r>
              <a:rPr lang="en-US" dirty="0"/>
              <a:t>f == 1 and g longer than 64 bytes, a crash will occur</a:t>
            </a:r>
          </a:p>
          <a:p>
            <a:r>
              <a:rPr lang="en-US" dirty="0"/>
              <a:t>f == 2 could lead to an unterminated string, becoming an array of chars</a:t>
            </a:r>
          </a:p>
        </p:txBody>
      </p:sp>
      <p:pic>
        <p:nvPicPr>
          <p:cNvPr id="7" name="Picture 6" descr="A screen shot of a computer code&#10;&#10;AI-generated content may be incorrect.">
            <a:extLst>
              <a:ext uri="{FF2B5EF4-FFF2-40B4-BE49-F238E27FC236}">
                <a16:creationId xmlns:a16="http://schemas.microsoft.com/office/drawing/2014/main" id="{D65F99AA-623F-D9D7-AF6C-383A05E59728}"/>
              </a:ext>
            </a:extLst>
          </p:cNvPr>
          <p:cNvPicPr>
            <a:picLocks noChangeAspect="1"/>
          </p:cNvPicPr>
          <p:nvPr/>
        </p:nvPicPr>
        <p:blipFill>
          <a:blip r:embed="rId3"/>
          <a:stretch>
            <a:fillRect/>
          </a:stretch>
        </p:blipFill>
        <p:spPr>
          <a:xfrm>
            <a:off x="7251700" y="1727201"/>
            <a:ext cx="4940300" cy="4064000"/>
          </a:xfrm>
          <a:prstGeom prst="rect">
            <a:avLst/>
          </a:prstGeom>
        </p:spPr>
      </p:pic>
    </p:spTree>
    <p:extLst>
      <p:ext uri="{BB962C8B-B14F-4D97-AF65-F5344CB8AC3E}">
        <p14:creationId xmlns:p14="http://schemas.microsoft.com/office/powerpoint/2010/main" val="37809021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77065A-9BB1-DCBD-B040-2C9E3538E788}"/>
              </a:ext>
            </a:extLst>
          </p:cNvPr>
          <p:cNvSpPr>
            <a:spLocks noGrp="1"/>
          </p:cNvSpPr>
          <p:nvPr>
            <p:ph type="title"/>
          </p:nvPr>
        </p:nvSpPr>
        <p:spPr/>
        <p:txBody>
          <a:bodyPr/>
          <a:lstStyle/>
          <a:p>
            <a:r>
              <a:rPr lang="en-US" dirty="0"/>
              <a:t>Additional Findings</a:t>
            </a:r>
          </a:p>
        </p:txBody>
      </p:sp>
      <p:sp>
        <p:nvSpPr>
          <p:cNvPr id="3" name="Content Placeholder 2">
            <a:extLst>
              <a:ext uri="{FF2B5EF4-FFF2-40B4-BE49-F238E27FC236}">
                <a16:creationId xmlns:a16="http://schemas.microsoft.com/office/drawing/2014/main" id="{E240C3C8-9E65-8D6F-9FA8-65CBD61AF75A}"/>
              </a:ext>
            </a:extLst>
          </p:cNvPr>
          <p:cNvSpPr>
            <a:spLocks noGrp="1"/>
          </p:cNvSpPr>
          <p:nvPr>
            <p:ph idx="1"/>
          </p:nvPr>
        </p:nvSpPr>
        <p:spPr/>
        <p:txBody>
          <a:bodyPr/>
          <a:lstStyle/>
          <a:p>
            <a:r>
              <a:rPr lang="en-US" dirty="0" err="1"/>
              <a:t>write_secret_file</a:t>
            </a:r>
            <a:r>
              <a:rPr lang="en-US" dirty="0"/>
              <a:t>: Maintenance mode printed “Midnight maintenance mode active” only on Sundays 03:00‑03:59</a:t>
            </a:r>
          </a:p>
          <a:p>
            <a:r>
              <a:rPr lang="en-US" dirty="0" err="1"/>
              <a:t>print_decrypted_string</a:t>
            </a:r>
            <a:r>
              <a:rPr lang="en-US" dirty="0"/>
              <a:t>: key is hardcoded, 85 is exposed and clearly shown</a:t>
            </a:r>
          </a:p>
          <a:p>
            <a:r>
              <a:rPr lang="en-US" dirty="0" err="1"/>
              <a:t>read_flag_from_file</a:t>
            </a:r>
            <a:r>
              <a:rPr lang="en-US" dirty="0"/>
              <a:t>: Simply tries to open /</a:t>
            </a:r>
            <a:r>
              <a:rPr lang="en-US" dirty="0" err="1"/>
              <a:t>flag.txt</a:t>
            </a:r>
            <a:endParaRPr lang="en-US" dirty="0"/>
          </a:p>
          <a:p>
            <a:r>
              <a:rPr lang="en-US" dirty="0" err="1"/>
              <a:t>read_running_processes_on_comp</a:t>
            </a:r>
            <a:r>
              <a:rPr lang="en-US" dirty="0"/>
              <a:t>: Leaks memory map (screenshot next page)</a:t>
            </a:r>
          </a:p>
          <a:p>
            <a:endParaRPr lang="en-US" dirty="0"/>
          </a:p>
        </p:txBody>
      </p:sp>
    </p:spTree>
    <p:extLst>
      <p:ext uri="{BB962C8B-B14F-4D97-AF65-F5344CB8AC3E}">
        <p14:creationId xmlns:p14="http://schemas.microsoft.com/office/powerpoint/2010/main" val="302394796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4199CC-13ED-A493-8911-8FA2878DB8F5}"/>
              </a:ext>
            </a:extLst>
          </p:cNvPr>
          <p:cNvSpPr>
            <a:spLocks noGrp="1"/>
          </p:cNvSpPr>
          <p:nvPr>
            <p:ph type="title"/>
          </p:nvPr>
        </p:nvSpPr>
        <p:spPr/>
        <p:txBody>
          <a:bodyPr/>
          <a:lstStyle/>
          <a:p>
            <a:r>
              <a:rPr lang="en-US" dirty="0"/>
              <a:t>Additional findings (</a:t>
            </a:r>
            <a:r>
              <a:rPr lang="en-US" dirty="0" err="1"/>
              <a:t>cont</a:t>
            </a:r>
            <a:r>
              <a:rPr lang="en-US" dirty="0"/>
              <a:t>)</a:t>
            </a:r>
          </a:p>
        </p:txBody>
      </p:sp>
      <p:pic>
        <p:nvPicPr>
          <p:cNvPr id="5" name="Picture 4" descr="A screen shot of a computer&#10;&#10;AI-generated content may be incorrect.">
            <a:extLst>
              <a:ext uri="{FF2B5EF4-FFF2-40B4-BE49-F238E27FC236}">
                <a16:creationId xmlns:a16="http://schemas.microsoft.com/office/drawing/2014/main" id="{074A889B-4FB1-EA11-B628-17D008BD1A3D}"/>
              </a:ext>
            </a:extLst>
          </p:cNvPr>
          <p:cNvPicPr>
            <a:picLocks noChangeAspect="1"/>
          </p:cNvPicPr>
          <p:nvPr/>
        </p:nvPicPr>
        <p:blipFill>
          <a:blip r:embed="rId3"/>
          <a:stretch>
            <a:fillRect/>
          </a:stretch>
        </p:blipFill>
        <p:spPr>
          <a:xfrm>
            <a:off x="1475768" y="1662025"/>
            <a:ext cx="9237288" cy="5195975"/>
          </a:xfrm>
          <a:prstGeom prst="rect">
            <a:avLst/>
          </a:prstGeom>
        </p:spPr>
      </p:pic>
    </p:spTree>
    <p:extLst>
      <p:ext uri="{BB962C8B-B14F-4D97-AF65-F5344CB8AC3E}">
        <p14:creationId xmlns:p14="http://schemas.microsoft.com/office/powerpoint/2010/main" val="40244795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74F0DE-33FF-EB16-CF71-A1F1D1D3263E}"/>
              </a:ext>
            </a:extLst>
          </p:cNvPr>
          <p:cNvSpPr>
            <a:spLocks noGrp="1"/>
          </p:cNvSpPr>
          <p:nvPr>
            <p:ph type="title"/>
          </p:nvPr>
        </p:nvSpPr>
        <p:spPr/>
        <p:txBody>
          <a:bodyPr/>
          <a:lstStyle/>
          <a:p>
            <a:r>
              <a:rPr lang="en-US" dirty="0"/>
              <a:t>Security Mitigations</a:t>
            </a:r>
          </a:p>
        </p:txBody>
      </p:sp>
      <p:sp>
        <p:nvSpPr>
          <p:cNvPr id="3" name="Content Placeholder 2">
            <a:extLst>
              <a:ext uri="{FF2B5EF4-FFF2-40B4-BE49-F238E27FC236}">
                <a16:creationId xmlns:a16="http://schemas.microsoft.com/office/drawing/2014/main" id="{B6155EFD-96A9-3C75-9A79-849232BA20B5}"/>
              </a:ext>
            </a:extLst>
          </p:cNvPr>
          <p:cNvSpPr>
            <a:spLocks noGrp="1"/>
          </p:cNvSpPr>
          <p:nvPr>
            <p:ph idx="1"/>
          </p:nvPr>
        </p:nvSpPr>
        <p:spPr/>
        <p:txBody>
          <a:bodyPr>
            <a:normAutofit lnSpcReduction="10000"/>
          </a:bodyPr>
          <a:lstStyle/>
          <a:p>
            <a:r>
              <a:rPr lang="en-US" dirty="0" err="1"/>
              <a:t>Strcpy</a:t>
            </a:r>
            <a:r>
              <a:rPr lang="en-US" dirty="0"/>
              <a:t> instances must be updated with </a:t>
            </a:r>
            <a:r>
              <a:rPr lang="en-US" dirty="0" err="1"/>
              <a:t>snprintf</a:t>
            </a:r>
            <a:r>
              <a:rPr lang="en-US" dirty="0"/>
              <a:t> or </a:t>
            </a:r>
            <a:r>
              <a:rPr lang="en-US" dirty="0" err="1"/>
              <a:t>strncpy</a:t>
            </a:r>
            <a:r>
              <a:rPr lang="en-US" dirty="0"/>
              <a:t> and a null char insert.</a:t>
            </a:r>
          </a:p>
          <a:p>
            <a:r>
              <a:rPr lang="en-US" dirty="0" err="1"/>
              <a:t>Strncpy</a:t>
            </a:r>
            <a:r>
              <a:rPr lang="en-US" dirty="0"/>
              <a:t> calls must explicitly write a null char to the end.</a:t>
            </a:r>
          </a:p>
          <a:p>
            <a:r>
              <a:rPr lang="en-US" dirty="0"/>
              <a:t>No input validation is done with </a:t>
            </a:r>
            <a:r>
              <a:rPr lang="en-US" dirty="0" err="1"/>
              <a:t>atoi</a:t>
            </a:r>
            <a:r>
              <a:rPr lang="en-US" dirty="0"/>
              <a:t>, validation must occur or migration to C++ to use </a:t>
            </a:r>
            <a:r>
              <a:rPr lang="en-US" dirty="0" err="1"/>
              <a:t>strtol</a:t>
            </a:r>
            <a:r>
              <a:rPr lang="en-US" dirty="0"/>
              <a:t>.</a:t>
            </a:r>
          </a:p>
          <a:p>
            <a:r>
              <a:rPr lang="en-US" dirty="0"/>
              <a:t>Change written files to a protected folder, not /</a:t>
            </a:r>
            <a:r>
              <a:rPr lang="en-US" dirty="0" err="1"/>
              <a:t>tmp</a:t>
            </a:r>
            <a:endParaRPr lang="en-US" dirty="0"/>
          </a:p>
          <a:p>
            <a:r>
              <a:rPr lang="en-US" dirty="0"/>
              <a:t>Harden the binary to ensure better security from the ground-up.</a:t>
            </a:r>
          </a:p>
        </p:txBody>
      </p:sp>
    </p:spTree>
    <p:extLst>
      <p:ext uri="{BB962C8B-B14F-4D97-AF65-F5344CB8AC3E}">
        <p14:creationId xmlns:p14="http://schemas.microsoft.com/office/powerpoint/2010/main" val="1425917822"/>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Circuit">
  <a:themeElements>
    <a:clrScheme name="Circuit">
      <a:dk1>
        <a:sysClr val="windowText" lastClr="000000"/>
      </a:dk1>
      <a:lt1>
        <a:sysClr val="window" lastClr="FFFFFF"/>
      </a:lt1>
      <a:dk2>
        <a:srgbClr val="134770"/>
      </a:dk2>
      <a:lt2>
        <a:srgbClr val="82FFFF"/>
      </a:lt2>
      <a:accent1>
        <a:srgbClr val="9ACD4C"/>
      </a:accent1>
      <a:accent2>
        <a:srgbClr val="FAA93A"/>
      </a:accent2>
      <a:accent3>
        <a:srgbClr val="D35940"/>
      </a:accent3>
      <a:accent4>
        <a:srgbClr val="B258D3"/>
      </a:accent4>
      <a:accent5>
        <a:srgbClr val="63A0CC"/>
      </a:accent5>
      <a:accent6>
        <a:srgbClr val="8AC4A7"/>
      </a:accent6>
      <a:hlink>
        <a:srgbClr val="B8FA56"/>
      </a:hlink>
      <a:folHlink>
        <a:srgbClr val="7AF8CC"/>
      </a:folHlink>
    </a:clrScheme>
    <a:fontScheme name="Circuit">
      <a:majorFont>
        <a:latin typeface="Tw Cen MT" panose="020B0602020104020603"/>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w Cen MT" panose="020B0602020104020603"/>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ircuit">
      <a:fillStyleLst>
        <a:solidFill>
          <a:schemeClr val="phClr"/>
        </a:solidFill>
        <a:gradFill rotWithShape="1">
          <a:gsLst>
            <a:gs pos="0">
              <a:schemeClr val="phClr">
                <a:tint val="58000"/>
                <a:satMod val="108000"/>
                <a:lumMod val="110000"/>
              </a:schemeClr>
            </a:gs>
            <a:gs pos="100000">
              <a:schemeClr val="phClr">
                <a:tint val="81000"/>
                <a:satMod val="109000"/>
                <a:lumMod val="105000"/>
              </a:schemeClr>
            </a:gs>
          </a:gsLst>
          <a:lin ang="5040000" scaled="0"/>
        </a:gradFill>
        <a:gradFill rotWithShape="1">
          <a:gsLst>
            <a:gs pos="0">
              <a:schemeClr val="phClr">
                <a:tint val="94000"/>
                <a:satMod val="105000"/>
                <a:lumMod val="102000"/>
              </a:schemeClr>
            </a:gs>
            <a:gs pos="100000">
              <a:schemeClr val="phClr">
                <a:shade val="74000"/>
                <a:satMod val="128000"/>
                <a:lumMod val="100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98000"/>
                <a:hueMod val="94000"/>
                <a:satMod val="148000"/>
                <a:lumMod val="150000"/>
              </a:schemeClr>
            </a:gs>
            <a:gs pos="100000">
              <a:schemeClr val="phClr">
                <a:shade val="92000"/>
                <a:hueMod val="104000"/>
                <a:satMod val="140000"/>
                <a:lumMod val="68000"/>
              </a:schemeClr>
            </a:gs>
          </a:gsLst>
          <a:lin ang="5040000" scaled="0"/>
        </a:gradFill>
        <a:blipFill>
          <a:blip xmlns:r="http://schemas.openxmlformats.org/officeDocument/2006/relationships" r:embed="rId1">
            <a:duotone>
              <a:schemeClr val="phClr">
                <a:shade val="88000"/>
                <a:hueMod val="106000"/>
                <a:satMod val="140000"/>
                <a:lumMod val="54000"/>
              </a:schemeClr>
              <a:schemeClr val="phClr">
                <a:tint val="98000"/>
                <a:hueMod val="90000"/>
                <a:satMod val="150000"/>
                <a:lumMod val="160000"/>
              </a:schemeClr>
            </a:duotone>
          </a:blip>
          <a:stretch/>
        </a:blipFill>
      </a:bgFillStyleLst>
    </a:fmtScheme>
  </a:themeElements>
  <a:objectDefaults/>
  <a:extraClrSchemeLst/>
  <a:extLst>
    <a:ext uri="{05A4C25C-085E-4340-85A3-A5531E510DB2}">
      <thm15:themeFamily xmlns:thm15="http://schemas.microsoft.com/office/thememl/2012/main" name="Circuit" id="{0AC2F7E7-15F5-431C-B2A2-456FE929F56C}" vid="{0911B802-464C-4241-8DD9-B60FF88E379F}"/>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Circuit</Template>
  <TotalTime>116</TotalTime>
  <Words>3031</Words>
  <Application>Microsoft Macintosh PowerPoint</Application>
  <PresentationFormat>Widescreen</PresentationFormat>
  <Paragraphs>264</Paragraphs>
  <Slides>19</Slides>
  <Notes>18</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19</vt:i4>
      </vt:variant>
    </vt:vector>
  </HeadingPairs>
  <TitlesOfParts>
    <vt:vector size="24" baseType="lpstr">
      <vt:lpstr>Aptos</vt:lpstr>
      <vt:lpstr>Arial</vt:lpstr>
      <vt:lpstr>Tw Cen MT</vt:lpstr>
      <vt:lpstr>Wingdings</vt:lpstr>
      <vt:lpstr>Circuit</vt:lpstr>
      <vt:lpstr>Reverse engineering project</vt:lpstr>
      <vt:lpstr>Scope &amp; Objective</vt:lpstr>
      <vt:lpstr>Tools used</vt:lpstr>
      <vt:lpstr>Binwalk results</vt:lpstr>
      <vt:lpstr>Ghidra</vt:lpstr>
      <vt:lpstr>Ghidra Config</vt:lpstr>
      <vt:lpstr>Ghidra Import summary</vt:lpstr>
      <vt:lpstr>Ghidra (DETAILED Graphs)</vt:lpstr>
      <vt:lpstr>Ghidra (call graph)</vt:lpstr>
      <vt:lpstr>Ghidra (ASM Main call graph)</vt:lpstr>
      <vt:lpstr>Ltrace results</vt:lpstr>
      <vt:lpstr>Strace results</vt:lpstr>
      <vt:lpstr>Strace results (CONT)</vt:lpstr>
      <vt:lpstr>Strace results (CONT)</vt:lpstr>
      <vt:lpstr>Core functions</vt:lpstr>
      <vt:lpstr>Buffer overflow potentials</vt:lpstr>
      <vt:lpstr>Additional Findings</vt:lpstr>
      <vt:lpstr>Additional findings (cont)</vt:lpstr>
      <vt:lpstr>Security Mitigations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main</dc:creator>
  <cp:lastModifiedBy>main</cp:lastModifiedBy>
  <cp:revision>45</cp:revision>
  <dcterms:created xsi:type="dcterms:W3CDTF">2026-06-09T04:33:23Z</dcterms:created>
  <dcterms:modified xsi:type="dcterms:W3CDTF">2026-06-09T06:30:19Z</dcterms:modified>
</cp:coreProperties>
</file>